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3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3542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-2011680"/>
            <a:ext cx="7315200" cy="7315200"/>
          </a:xfrm>
          <a:prstGeom prst="ellipse">
            <a:avLst/>
          </a:prstGeom>
          <a:solidFill>
            <a:srgbClr val="06C755">
              <a:alpha val="9000"/>
            </a:srgbClr>
          </a:solidFill>
          <a:ln w="12700">
            <a:solidFill>
              <a:srgbClr val="06C755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6583680" y="182880"/>
            <a:ext cx="4754880" cy="475488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7772400" y="2560320"/>
            <a:ext cx="2743200" cy="2743200"/>
          </a:xfrm>
          <a:prstGeom prst="ellipse">
            <a:avLst/>
          </a:prstGeom>
          <a:solidFill>
            <a:srgbClr val="06C755">
              <a:alpha val="16000"/>
            </a:srgbClr>
          </a:solidFill>
          <a:ln w="12700">
            <a:solidFill>
              <a:srgbClr val="06C755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82880"/>
            <a:ext cx="749808" cy="749808"/>
          </a:xfrm>
          <a:prstGeom prst="ellipse">
            <a:avLst/>
          </a:prstGeom>
          <a:solidFill>
            <a:srgbClr val="048A3B"/>
          </a:solidFill>
          <a:ln w="12700">
            <a:solidFill>
              <a:srgbClr val="048A3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" y="324612"/>
            <a:ext cx="448056" cy="4480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07008" y="3474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C7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LINE Bot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65760" y="960120"/>
            <a:ext cx="7772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CRMS6-IT</a:t>
            </a:r>
            <a:endParaRPr lang="en-US" sz="7400" dirty="0"/>
          </a:p>
        </p:txBody>
      </p:sp>
      <p:sp>
        <p:nvSpPr>
          <p:cNvPr id="10" name="Shape 7"/>
          <p:cNvSpPr/>
          <p:nvPr/>
        </p:nvSpPr>
        <p:spPr>
          <a:xfrm>
            <a:off x="365760" y="2487168"/>
            <a:ext cx="1828800" cy="64008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Text 8"/>
          <p:cNvSpPr/>
          <p:nvPr/>
        </p:nvSpPr>
        <p:spPr>
          <a:xfrm>
            <a:off x="365760" y="261518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ระบบบริการออนไลน์ สำหรับครู บุคลากร และนักเรียน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365760" y="3127248"/>
            <a:ext cx="1115568" cy="329184"/>
          </a:xfrm>
          <a:prstGeom prst="roundRect">
            <a:avLst>
              <a:gd name="adj" fmla="val 27778"/>
            </a:avLst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Text 10"/>
          <p:cNvSpPr/>
          <p:nvPr/>
        </p:nvSpPr>
        <p:spPr>
          <a:xfrm>
            <a:off x="365760" y="3127248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แจ้งซ่อม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618488" y="3127248"/>
            <a:ext cx="1115568" cy="329184"/>
          </a:xfrm>
          <a:prstGeom prst="roundRect">
            <a:avLst>
              <a:gd name="adj" fmla="val 27778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Text 12"/>
          <p:cNvSpPr/>
          <p:nvPr/>
        </p:nvSpPr>
        <p:spPr>
          <a:xfrm>
            <a:off x="1618488" y="3127248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จองห้อง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871216" y="3127248"/>
            <a:ext cx="1115568" cy="329184"/>
          </a:xfrm>
          <a:prstGeom prst="roundRect">
            <a:avLst>
              <a:gd name="adj" fmla="val 2777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Text 14"/>
          <p:cNvSpPr/>
          <p:nvPr/>
        </p:nvSpPr>
        <p:spPr>
          <a:xfrm>
            <a:off x="2871216" y="3127248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ดูภาพ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123944" y="3127248"/>
            <a:ext cx="1115568" cy="329184"/>
          </a:xfrm>
          <a:prstGeom prst="roundRect">
            <a:avLst>
              <a:gd name="adj" fmla="val 2777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Text 16"/>
          <p:cNvSpPr/>
          <p:nvPr/>
        </p:nvSpPr>
        <p:spPr>
          <a:xfrm>
            <a:off x="4123944" y="3127248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แจ้งเตือน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376672" y="3127248"/>
            <a:ext cx="1115568" cy="329184"/>
          </a:xfrm>
          <a:prstGeom prst="roundRect">
            <a:avLst>
              <a:gd name="adj" fmla="val 2777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Text 18"/>
          <p:cNvSpPr/>
          <p:nvPr/>
        </p:nvSpPr>
        <p:spPr>
          <a:xfrm>
            <a:off x="5376672" y="3127248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PWA App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675120" y="3090672"/>
            <a:ext cx="914400" cy="914400"/>
          </a:xfrm>
          <a:prstGeom prst="ellipse">
            <a:avLst/>
          </a:prstGeom>
          <a:solidFill>
            <a:srgbClr val="142032"/>
          </a:solidFill>
          <a:ln w="25400">
            <a:solidFill>
              <a:srgbClr val="06C755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3428" y="3268980"/>
            <a:ext cx="557784" cy="557784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7845552" y="3090672"/>
            <a:ext cx="914400" cy="914400"/>
          </a:xfrm>
          <a:prstGeom prst="ellipse">
            <a:avLst/>
          </a:prstGeom>
          <a:solidFill>
            <a:srgbClr val="142032"/>
          </a:solidFill>
          <a:ln w="254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3860" y="3268980"/>
            <a:ext cx="557784" cy="55778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565392" y="4069080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C7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LINE Bot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7735824" y="4069080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Web Browser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91523"/>
          </a:solidFill>
          <a:ln w="12700">
            <a:solidFill>
              <a:srgbClr val="09152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9" name="Text 24"/>
          <p:cNvSpPr/>
          <p:nvPr/>
        </p:nvSpPr>
        <p:spPr>
          <a:xfrm>
            <a:off x="457200" y="4572000"/>
            <a:ext cx="8229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C7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ทุกบริการ ครบจบที่เดียว  ·  ผ่าน LINE Bot, LIFF และ Web Browser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91523"/>
          </a:solidFill>
          <a:ln w="12700">
            <a:solidFill>
              <a:srgbClr val="09152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384048" y="914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ระบบทำอะไรได้บ้าง?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84048" y="512064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บริการครบครัน — ใช้งานได้ทั้งผ่าน LINE Bot และ Web Browser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3A526A"/>
          </a:solidFill>
          <a:ln w="12700">
            <a:solidFill>
              <a:srgbClr val="3A526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8229600" y="48646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A526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 / 10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868680"/>
            <a:ext cx="1517904" cy="3931920"/>
          </a:xfrm>
          <a:prstGeom prst="rect">
            <a:avLst/>
          </a:prstGeom>
          <a:solidFill>
            <a:srgbClr val="0F2A1C"/>
          </a:solidFill>
          <a:ln w="12700">
            <a:solidFill>
              <a:srgbClr val="0F2A1C"/>
            </a:solidFill>
            <a:prstDash val="solid"/>
          </a:ln>
          <a:effectLst>
            <a:outerShdw blurRad="1524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457200" y="868680"/>
            <a:ext cx="1517904" cy="54864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850392" y="1389888"/>
            <a:ext cx="731520" cy="731520"/>
          </a:xfrm>
          <a:prstGeom prst="ellipse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  <a:effectLst>
            <a:outerShdw blurRad="1524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1517904"/>
            <a:ext cx="475488" cy="47548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57200" y="224028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แจ้งซ่อม IT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2761488"/>
            <a:ext cx="1517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แจ้งซ่อมคอม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โสตทัศนศึกษา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58368" y="3291840"/>
            <a:ext cx="1115568" cy="0"/>
          </a:xfrm>
          <a:prstGeom prst="line">
            <a:avLst/>
          </a:prstGeom>
          <a:noFill/>
          <a:ln w="6350">
            <a:solidFill>
              <a:srgbClr val="3A526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3"/>
          <p:cNvSpPr/>
          <p:nvPr/>
        </p:nvSpPr>
        <p:spPr>
          <a:xfrm>
            <a:off x="585216" y="336499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· แจ้งผ่าน LINE Bot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85216" y="365760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· แจ้งผ่าน LIFF App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85216" y="395020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· แจ้งผ่าน Web Browser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21792" y="4315968"/>
            <a:ext cx="1188720" cy="256032"/>
          </a:xfrm>
          <a:prstGeom prst="roundRect">
            <a:avLst>
              <a:gd name="adj" fmla="val 35714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Text 17"/>
          <p:cNvSpPr/>
          <p:nvPr/>
        </p:nvSpPr>
        <p:spPr>
          <a:xfrm>
            <a:off x="621792" y="43159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LINE + Web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2135124" y="868680"/>
            <a:ext cx="1517904" cy="3931920"/>
          </a:xfrm>
          <a:prstGeom prst="rect">
            <a:avLst/>
          </a:prstGeom>
          <a:solidFill>
            <a:srgbClr val="2A1E0A"/>
          </a:solidFill>
          <a:ln w="12700">
            <a:solidFill>
              <a:srgbClr val="2A1E0A"/>
            </a:solidFill>
            <a:prstDash val="solid"/>
          </a:ln>
          <a:effectLst>
            <a:outerShdw blurRad="1524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2" name="Shape 19"/>
          <p:cNvSpPr/>
          <p:nvPr/>
        </p:nvSpPr>
        <p:spPr>
          <a:xfrm>
            <a:off x="2135124" y="868680"/>
            <a:ext cx="1517904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3" name="Shape 20"/>
          <p:cNvSpPr/>
          <p:nvPr/>
        </p:nvSpPr>
        <p:spPr>
          <a:xfrm>
            <a:off x="2528316" y="1389888"/>
            <a:ext cx="731520" cy="7315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6332" y="1517904"/>
            <a:ext cx="475488" cy="47548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2135124" y="224028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ซ่อมอาคาร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2135124" y="2761488"/>
            <a:ext cx="1517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แจ้งซ่อม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อาคารสถานที่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2336292" y="3291840"/>
            <a:ext cx="1115568" cy="0"/>
          </a:xfrm>
          <a:prstGeom prst="line">
            <a:avLst/>
          </a:prstGeom>
          <a:noFill/>
          <a:ln w="6350">
            <a:solidFill>
              <a:srgbClr val="3A526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8" name="Text 24"/>
          <p:cNvSpPr/>
          <p:nvPr/>
        </p:nvSpPr>
        <p:spPr>
          <a:xfrm>
            <a:off x="2263140" y="336499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· แจ้งผ่าน LINE Bot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2263140" y="365760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· แจ้งผ่าน LIFF App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2263140" y="395020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· แจ้งผ่าน Web Browser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2299716" y="4315968"/>
            <a:ext cx="1188720" cy="256032"/>
          </a:xfrm>
          <a:prstGeom prst="roundRect">
            <a:avLst>
              <a:gd name="adj" fmla="val 35714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2" name="Text 28"/>
          <p:cNvSpPr/>
          <p:nvPr/>
        </p:nvSpPr>
        <p:spPr>
          <a:xfrm>
            <a:off x="2299716" y="43159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LINE + Web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3813048" y="868680"/>
            <a:ext cx="1517904" cy="3931920"/>
          </a:xfrm>
          <a:prstGeom prst="rect">
            <a:avLst/>
          </a:prstGeom>
          <a:solidFill>
            <a:srgbClr val="091E2A"/>
          </a:solidFill>
          <a:ln w="12700">
            <a:solidFill>
              <a:srgbClr val="091E2A"/>
            </a:solidFill>
            <a:prstDash val="solid"/>
          </a:ln>
          <a:effectLst>
            <a:outerShdw blurRad="1524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34" name="Shape 30"/>
          <p:cNvSpPr/>
          <p:nvPr/>
        </p:nvSpPr>
        <p:spPr>
          <a:xfrm>
            <a:off x="3813048" y="868680"/>
            <a:ext cx="1517904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5" name="Shape 31"/>
          <p:cNvSpPr/>
          <p:nvPr/>
        </p:nvSpPr>
        <p:spPr>
          <a:xfrm>
            <a:off x="4206240" y="1389888"/>
            <a:ext cx="731520" cy="7315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1524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4256" y="1517904"/>
            <a:ext cx="475488" cy="475488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3813048" y="224028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จองห้อง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&amp; ช่างภาพ</a:t>
            </a:r>
            <a:endParaRPr lang="en-US" sz="1200" dirty="0"/>
          </a:p>
        </p:txBody>
      </p:sp>
      <p:sp>
        <p:nvSpPr>
          <p:cNvPr id="38" name="Text 33"/>
          <p:cNvSpPr/>
          <p:nvPr/>
        </p:nvSpPr>
        <p:spPr>
          <a:xfrm>
            <a:off x="3813048" y="2761488"/>
            <a:ext cx="1517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จอง 7 ห้อง +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ช่างภาพ</a:t>
            </a:r>
            <a:endParaRPr lang="en-US" sz="950" dirty="0"/>
          </a:p>
        </p:txBody>
      </p:sp>
      <p:sp>
        <p:nvSpPr>
          <p:cNvPr id="39" name="Shape 34"/>
          <p:cNvSpPr/>
          <p:nvPr/>
        </p:nvSpPr>
        <p:spPr>
          <a:xfrm>
            <a:off x="4014216" y="3291840"/>
            <a:ext cx="1115568" cy="0"/>
          </a:xfrm>
          <a:prstGeom prst="line">
            <a:avLst/>
          </a:prstGeom>
          <a:noFill/>
          <a:ln w="6350">
            <a:solidFill>
              <a:srgbClr val="3A526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0" name="Text 35"/>
          <p:cNvSpPr/>
          <p:nvPr/>
        </p:nvSpPr>
        <p:spPr>
          <a:xfrm>
            <a:off x="3941064" y="336499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· 7 ห้อง ม.ต้น/ม.ปลาย</a:t>
            </a:r>
            <a:endParaRPr lang="en-US" sz="850" dirty="0"/>
          </a:p>
        </p:txBody>
      </p:sp>
      <p:sp>
        <p:nvSpPr>
          <p:cNvPr id="41" name="Text 36"/>
          <p:cNvSpPr/>
          <p:nvPr/>
        </p:nvSpPr>
        <p:spPr>
          <a:xfrm>
            <a:off x="3941064" y="365760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· เช็คว่าง Real-time</a:t>
            </a:r>
            <a:endParaRPr lang="en-US" sz="850" dirty="0"/>
          </a:p>
        </p:txBody>
      </p:sp>
      <p:sp>
        <p:nvSpPr>
          <p:cNvPr id="42" name="Text 37"/>
          <p:cNvSpPr/>
          <p:nvPr/>
        </p:nvSpPr>
        <p:spPr>
          <a:xfrm>
            <a:off x="3941064" y="395020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· LINE &amp; Web Browser</a:t>
            </a:r>
            <a:endParaRPr lang="en-US" sz="850" dirty="0"/>
          </a:p>
        </p:txBody>
      </p:sp>
      <p:sp>
        <p:nvSpPr>
          <p:cNvPr id="43" name="Shape 38"/>
          <p:cNvSpPr/>
          <p:nvPr/>
        </p:nvSpPr>
        <p:spPr>
          <a:xfrm>
            <a:off x="3977640" y="4315968"/>
            <a:ext cx="1188720" cy="256032"/>
          </a:xfrm>
          <a:prstGeom prst="roundRect">
            <a:avLst>
              <a:gd name="adj" fmla="val 35714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4" name="Text 39"/>
          <p:cNvSpPr/>
          <p:nvPr/>
        </p:nvSpPr>
        <p:spPr>
          <a:xfrm>
            <a:off x="3977640" y="43159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LINE + Web</a:t>
            </a:r>
            <a:endParaRPr lang="en-US" sz="850" dirty="0"/>
          </a:p>
        </p:txBody>
      </p:sp>
      <p:sp>
        <p:nvSpPr>
          <p:cNvPr id="45" name="Shape 40"/>
          <p:cNvSpPr/>
          <p:nvPr/>
        </p:nvSpPr>
        <p:spPr>
          <a:xfrm>
            <a:off x="5490972" y="868680"/>
            <a:ext cx="1517904" cy="3931920"/>
          </a:xfrm>
          <a:prstGeom prst="rect">
            <a:avLst/>
          </a:prstGeom>
          <a:solidFill>
            <a:srgbClr val="1A1030"/>
          </a:solidFill>
          <a:ln w="12700">
            <a:solidFill>
              <a:srgbClr val="1A1030"/>
            </a:solidFill>
            <a:prstDash val="solid"/>
          </a:ln>
          <a:effectLst>
            <a:outerShdw blurRad="1524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46" name="Shape 41"/>
          <p:cNvSpPr/>
          <p:nvPr/>
        </p:nvSpPr>
        <p:spPr>
          <a:xfrm>
            <a:off x="5490972" y="868680"/>
            <a:ext cx="1517904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7" name="Shape 42"/>
          <p:cNvSpPr/>
          <p:nvPr/>
        </p:nvSpPr>
        <p:spPr>
          <a:xfrm>
            <a:off x="5884164" y="1389888"/>
            <a:ext cx="731520" cy="7315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524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pic>
        <p:nvPicPr>
          <p:cNvPr id="4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2180" y="1517904"/>
            <a:ext cx="475488" cy="475488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5490972" y="224028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ภาพกิจกรรม</a:t>
            </a:r>
            <a:endParaRPr lang="en-US" sz="1200" dirty="0"/>
          </a:p>
        </p:txBody>
      </p:sp>
      <p:sp>
        <p:nvSpPr>
          <p:cNvPr id="50" name="Text 44"/>
          <p:cNvSpPr/>
          <p:nvPr/>
        </p:nvSpPr>
        <p:spPr>
          <a:xfrm>
            <a:off x="5490972" y="2761488"/>
            <a:ext cx="1517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ค้นหาภาพ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และวิดีโอ</a:t>
            </a:r>
            <a:endParaRPr lang="en-US" sz="950" dirty="0"/>
          </a:p>
        </p:txBody>
      </p:sp>
      <p:sp>
        <p:nvSpPr>
          <p:cNvPr id="51" name="Shape 45"/>
          <p:cNvSpPr/>
          <p:nvPr/>
        </p:nvSpPr>
        <p:spPr>
          <a:xfrm>
            <a:off x="5692140" y="3291840"/>
            <a:ext cx="1115568" cy="0"/>
          </a:xfrm>
          <a:prstGeom prst="line">
            <a:avLst/>
          </a:prstGeom>
          <a:noFill/>
          <a:ln w="6350">
            <a:solidFill>
              <a:srgbClr val="3A526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2" name="Text 46"/>
          <p:cNvSpPr/>
          <p:nvPr/>
        </p:nvSpPr>
        <p:spPr>
          <a:xfrm>
            <a:off x="5618988" y="336499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· พิมพ์ 'ภาพ [ชื่องาน]'</a:t>
            </a:r>
            <a:endParaRPr lang="en-US" sz="850" dirty="0"/>
          </a:p>
        </p:txBody>
      </p:sp>
      <p:sp>
        <p:nvSpPr>
          <p:cNvPr id="53" name="Text 47"/>
          <p:cNvSpPr/>
          <p:nvPr/>
        </p:nvSpPr>
        <p:spPr>
          <a:xfrm>
            <a:off x="5618988" y="365760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· ค้นหาวิดีโอ</a:t>
            </a:r>
            <a:endParaRPr lang="en-US" sz="850" dirty="0"/>
          </a:p>
        </p:txBody>
      </p:sp>
      <p:sp>
        <p:nvSpPr>
          <p:cNvPr id="54" name="Text 48"/>
          <p:cNvSpPr/>
          <p:nvPr/>
        </p:nvSpPr>
        <p:spPr>
          <a:xfrm>
            <a:off x="5618988" y="395020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dirty="0" err="1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ผ่าน</a:t>
            </a:r>
            <a:r>
              <a:rPr lang="en-US" sz="85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Web Browser</a:t>
            </a:r>
            <a:endParaRPr lang="en-US" sz="850" dirty="0"/>
          </a:p>
        </p:txBody>
      </p:sp>
      <p:sp>
        <p:nvSpPr>
          <p:cNvPr id="55" name="Shape 49"/>
          <p:cNvSpPr/>
          <p:nvPr/>
        </p:nvSpPr>
        <p:spPr>
          <a:xfrm>
            <a:off x="5655564" y="4315968"/>
            <a:ext cx="1188720" cy="256032"/>
          </a:xfrm>
          <a:prstGeom prst="roundRect">
            <a:avLst>
              <a:gd name="adj" fmla="val 35714"/>
            </a:avLst>
          </a:prstGeom>
          <a:solidFill>
            <a:srgbClr val="048A3B"/>
          </a:solidFill>
          <a:ln w="12700">
            <a:solidFill>
              <a:srgbClr val="048A3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6" name="Text 50"/>
          <p:cNvSpPr/>
          <p:nvPr/>
        </p:nvSpPr>
        <p:spPr>
          <a:xfrm>
            <a:off x="5655564" y="43159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LINE Bot</a:t>
            </a:r>
            <a:endParaRPr lang="en-US" sz="850" dirty="0"/>
          </a:p>
        </p:txBody>
      </p:sp>
      <p:sp>
        <p:nvSpPr>
          <p:cNvPr id="57" name="Shape 51"/>
          <p:cNvSpPr/>
          <p:nvPr/>
        </p:nvSpPr>
        <p:spPr>
          <a:xfrm>
            <a:off x="7168896" y="868680"/>
            <a:ext cx="1517904" cy="3931920"/>
          </a:xfrm>
          <a:prstGeom prst="rect">
            <a:avLst/>
          </a:prstGeom>
          <a:solidFill>
            <a:srgbClr val="0A1F1A"/>
          </a:solidFill>
          <a:ln w="12700">
            <a:solidFill>
              <a:srgbClr val="0A1F1A"/>
            </a:solidFill>
            <a:prstDash val="solid"/>
          </a:ln>
          <a:effectLst>
            <a:outerShdw blurRad="1524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58" name="Shape 52"/>
          <p:cNvSpPr/>
          <p:nvPr/>
        </p:nvSpPr>
        <p:spPr>
          <a:xfrm>
            <a:off x="7168896" y="868680"/>
            <a:ext cx="1517904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9" name="Shape 53"/>
          <p:cNvSpPr/>
          <p:nvPr/>
        </p:nvSpPr>
        <p:spPr>
          <a:xfrm>
            <a:off x="7562088" y="1389888"/>
            <a:ext cx="731520" cy="7315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524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pic>
        <p:nvPicPr>
          <p:cNvPr id="6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0104" y="1517904"/>
            <a:ext cx="475488" cy="475488"/>
          </a:xfrm>
          <a:prstGeom prst="rect">
            <a:avLst/>
          </a:prstGeom>
        </p:spPr>
      </p:pic>
      <p:sp>
        <p:nvSpPr>
          <p:cNvPr id="61" name="Text 54"/>
          <p:cNvSpPr/>
          <p:nvPr/>
        </p:nvSpPr>
        <p:spPr>
          <a:xfrm>
            <a:off x="7168896" y="224028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แจ้งเตือน</a:t>
            </a:r>
            <a:endParaRPr lang="en-US" sz="1200" dirty="0"/>
          </a:p>
        </p:txBody>
      </p:sp>
      <p:sp>
        <p:nvSpPr>
          <p:cNvPr id="62" name="Text 55"/>
          <p:cNvSpPr/>
          <p:nvPr/>
        </p:nvSpPr>
        <p:spPr>
          <a:xfrm>
            <a:off x="7168896" y="2761488"/>
            <a:ext cx="1517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LINE Push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&amp; FCM Push</a:t>
            </a:r>
            <a:endParaRPr lang="en-US" sz="950" dirty="0"/>
          </a:p>
        </p:txBody>
      </p:sp>
      <p:sp>
        <p:nvSpPr>
          <p:cNvPr id="63" name="Shape 56"/>
          <p:cNvSpPr/>
          <p:nvPr/>
        </p:nvSpPr>
        <p:spPr>
          <a:xfrm>
            <a:off x="7370064" y="3291840"/>
            <a:ext cx="1115568" cy="0"/>
          </a:xfrm>
          <a:prstGeom prst="line">
            <a:avLst/>
          </a:prstGeom>
          <a:noFill/>
          <a:ln w="6350">
            <a:solidFill>
              <a:srgbClr val="3A526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4" name="Text 57"/>
          <p:cNvSpPr/>
          <p:nvPr/>
        </p:nvSpPr>
        <p:spPr>
          <a:xfrm>
            <a:off x="7296912" y="336499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· LINE Push Notification</a:t>
            </a:r>
            <a:endParaRPr lang="en-US" sz="850" dirty="0"/>
          </a:p>
        </p:txBody>
      </p:sp>
      <p:sp>
        <p:nvSpPr>
          <p:cNvPr id="65" name="Text 58"/>
          <p:cNvSpPr/>
          <p:nvPr/>
        </p:nvSpPr>
        <p:spPr>
          <a:xfrm>
            <a:off x="7296912" y="365760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· FCM Push Browser</a:t>
            </a:r>
            <a:endParaRPr lang="en-US" sz="850" dirty="0"/>
          </a:p>
        </p:txBody>
      </p:sp>
      <p:sp>
        <p:nvSpPr>
          <p:cNvPr id="66" name="Text 59"/>
          <p:cNvSpPr/>
          <p:nvPr/>
        </p:nvSpPr>
        <p:spPr>
          <a:xfrm>
            <a:off x="7296912" y="395020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· Real-time ทุกสถานะ</a:t>
            </a:r>
            <a:endParaRPr lang="en-US" sz="850" dirty="0"/>
          </a:p>
        </p:txBody>
      </p:sp>
      <p:sp>
        <p:nvSpPr>
          <p:cNvPr id="67" name="Shape 60"/>
          <p:cNvSpPr/>
          <p:nvPr/>
        </p:nvSpPr>
        <p:spPr>
          <a:xfrm>
            <a:off x="7333488" y="4315968"/>
            <a:ext cx="1188720" cy="256032"/>
          </a:xfrm>
          <a:prstGeom prst="roundRect">
            <a:avLst>
              <a:gd name="adj" fmla="val 35714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8" name="Text 61"/>
          <p:cNvSpPr/>
          <p:nvPr/>
        </p:nvSpPr>
        <p:spPr>
          <a:xfrm>
            <a:off x="7333488" y="43159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LINE + Web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91523"/>
          </a:solidFill>
          <a:ln w="12700">
            <a:solidFill>
              <a:srgbClr val="09152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384048" y="914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ขั้นตอนแรก: ผูกบัญชี LINE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84048" y="512064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ทำเพียงครั้งเดียว · ต้องใช้ email @tesaban6.ac.th เท่านั้น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3A526A"/>
          </a:solidFill>
          <a:ln w="12700">
            <a:solidFill>
              <a:srgbClr val="3A526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8229600" y="48646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A526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 / 10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868680"/>
            <a:ext cx="4023360" cy="3931920"/>
          </a:xfrm>
          <a:prstGeom prst="rect">
            <a:avLst/>
          </a:prstGeom>
          <a:solidFill>
            <a:srgbClr val="142032"/>
          </a:solidFill>
          <a:ln w="12700">
            <a:solidFill>
              <a:srgbClr val="142032"/>
            </a:solidFill>
            <a:prstDash val="solid"/>
          </a:ln>
          <a:effectLst>
            <a:outerShdw blurRad="1524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365760" y="868680"/>
            <a:ext cx="64008" cy="393192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502920" y="987552"/>
            <a:ext cx="621792" cy="621792"/>
          </a:xfrm>
          <a:prstGeom prst="ellipse">
            <a:avLst/>
          </a:prstGeom>
          <a:solidFill>
            <a:srgbClr val="048A3B"/>
          </a:solidFill>
          <a:ln w="12700">
            <a:solidFill>
              <a:srgbClr val="048A3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1101852"/>
            <a:ext cx="411480" cy="4114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34440" y="102412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C7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วิธีที่ 1 — ผ่าน LINE LIFF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234440" y="141732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เปิดใน LINE App · ง่าย ไม่ต้อง OTP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02920" y="1901952"/>
            <a:ext cx="329184" cy="329184"/>
          </a:xfrm>
          <a:prstGeom prst="ellipse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3"/>
          <p:cNvSpPr/>
          <p:nvPr/>
        </p:nvSpPr>
        <p:spPr>
          <a:xfrm>
            <a:off x="502920" y="1901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23544" y="188366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เพิ่มเพื่อน LINE Bot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923544" y="211226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กด Link เพื่อนหรือค้นหา @CRMS6IT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02920" y="2523744"/>
            <a:ext cx="329184" cy="329184"/>
          </a:xfrm>
          <a:prstGeom prst="ellipse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Text 17"/>
          <p:cNvSpPr/>
          <p:nvPr/>
        </p:nvSpPr>
        <p:spPr>
          <a:xfrm>
            <a:off x="502920" y="25237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23544" y="25054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กดเมนู 'ผูกบัญชี'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923544" y="27340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ในหน้า Chat กดเมนูด้านล่าง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02920" y="3145536"/>
            <a:ext cx="329184" cy="329184"/>
          </a:xfrm>
          <a:prstGeom prst="ellipse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4" name="Text 21"/>
          <p:cNvSpPr/>
          <p:nvPr/>
        </p:nvSpPr>
        <p:spPr>
          <a:xfrm>
            <a:off x="502920" y="31455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23544" y="312724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เข้าสู่ระบบด้วย Google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923544" y="335584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ใช้ @tesaban6.ac.th เท่านั้น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02920" y="3767328"/>
            <a:ext cx="329184" cy="329184"/>
          </a:xfrm>
          <a:prstGeom prst="ellipse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8" name="Text 25"/>
          <p:cNvSpPr/>
          <p:nvPr/>
        </p:nvSpPr>
        <p:spPr>
          <a:xfrm>
            <a:off x="502920" y="3767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23544" y="374904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เชื่อมต่อสำเร็จ!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923544" y="397764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ใช้งาน LINE Bot ได้ทันที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754880" y="868680"/>
            <a:ext cx="4023360" cy="3931920"/>
          </a:xfrm>
          <a:prstGeom prst="rect">
            <a:avLst/>
          </a:prstGeom>
          <a:solidFill>
            <a:srgbClr val="142032"/>
          </a:solidFill>
          <a:ln w="12700">
            <a:solidFill>
              <a:srgbClr val="142032"/>
            </a:solidFill>
            <a:prstDash val="solid"/>
          </a:ln>
          <a:effectLst>
            <a:outerShdw blurRad="1524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32" name="Shape 29"/>
          <p:cNvSpPr/>
          <p:nvPr/>
        </p:nvSpPr>
        <p:spPr>
          <a:xfrm>
            <a:off x="4754880" y="868680"/>
            <a:ext cx="64008" cy="3931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3" name="Shape 30"/>
          <p:cNvSpPr/>
          <p:nvPr/>
        </p:nvSpPr>
        <p:spPr>
          <a:xfrm>
            <a:off x="4892040" y="987552"/>
            <a:ext cx="621792" cy="621792"/>
          </a:xfrm>
          <a:prstGeom prst="ellipse">
            <a:avLst/>
          </a:prstGeom>
          <a:solidFill>
            <a:srgbClr val="0089A6"/>
          </a:solidFill>
          <a:ln w="12700">
            <a:solidFill>
              <a:srgbClr val="0089A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5367" y="1090879"/>
            <a:ext cx="411480" cy="41148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605272" y="102412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B4D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วิธีที่ 2 — OTP ผ่าน Email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5605272" y="141732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ใช้ใน LINE Bot โดยตรง · ไม่ต้องเปิดเบราว์เซอร์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4892040" y="190195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8" name="Text 34"/>
          <p:cNvSpPr/>
          <p:nvPr/>
        </p:nvSpPr>
        <p:spPr>
          <a:xfrm>
            <a:off x="4892040" y="1901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endParaRPr lang="en-US" sz="1200" dirty="0"/>
          </a:p>
        </p:txBody>
      </p:sp>
      <p:sp>
        <p:nvSpPr>
          <p:cNvPr id="39" name="Text 35"/>
          <p:cNvSpPr/>
          <p:nvPr/>
        </p:nvSpPr>
        <p:spPr>
          <a:xfrm>
            <a:off x="5312664" y="188366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พิมพ์ 'ผูกบัญชี' ใน LINE Bot</a:t>
            </a:r>
            <a:endParaRPr lang="en-US" sz="1150" dirty="0"/>
          </a:p>
        </p:txBody>
      </p:sp>
      <p:sp>
        <p:nvSpPr>
          <p:cNvPr id="40" name="Text 36"/>
          <p:cNvSpPr/>
          <p:nvPr/>
        </p:nvSpPr>
        <p:spPr>
          <a:xfrm>
            <a:off x="5312664" y="211226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ส่งข้อความหา Bot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4892040" y="2523744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2" name="Text 38"/>
          <p:cNvSpPr/>
          <p:nvPr/>
        </p:nvSpPr>
        <p:spPr>
          <a:xfrm>
            <a:off x="4892040" y="25237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1200" dirty="0"/>
          </a:p>
        </p:txBody>
      </p:sp>
      <p:sp>
        <p:nvSpPr>
          <p:cNvPr id="43" name="Text 39"/>
          <p:cNvSpPr/>
          <p:nvPr/>
        </p:nvSpPr>
        <p:spPr>
          <a:xfrm>
            <a:off x="5312664" y="25054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ส่ง Email ของคุณ</a:t>
            </a:r>
            <a:endParaRPr lang="en-US" sz="1150" dirty="0"/>
          </a:p>
        </p:txBody>
      </p:sp>
      <p:sp>
        <p:nvSpPr>
          <p:cNvPr id="44" name="Text 40"/>
          <p:cNvSpPr/>
          <p:nvPr/>
        </p:nvSpPr>
        <p:spPr>
          <a:xfrm>
            <a:off x="5312664" y="27340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ใช้ @tesaban6.ac.th เท่านั้น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4892040" y="3145536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6" name="Text 42"/>
          <p:cNvSpPr/>
          <p:nvPr/>
        </p:nvSpPr>
        <p:spPr>
          <a:xfrm>
            <a:off x="4892040" y="31455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1200" dirty="0"/>
          </a:p>
        </p:txBody>
      </p:sp>
      <p:sp>
        <p:nvSpPr>
          <p:cNvPr id="47" name="Text 43"/>
          <p:cNvSpPr/>
          <p:nvPr/>
        </p:nvSpPr>
        <p:spPr>
          <a:xfrm>
            <a:off x="5312664" y="312724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รับ OTP ทาง Email</a:t>
            </a:r>
            <a:endParaRPr lang="en-US" sz="1150" dirty="0"/>
          </a:p>
        </p:txBody>
      </p:sp>
      <p:sp>
        <p:nvSpPr>
          <p:cNvPr id="48" name="Text 44"/>
          <p:cNvSpPr/>
          <p:nvPr/>
        </p:nvSpPr>
        <p:spPr>
          <a:xfrm>
            <a:off x="5312664" y="335584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รหัส 6 หลัก · หมดอายุใน 5 นาที</a:t>
            </a:r>
            <a:endParaRPr lang="en-US" sz="900" dirty="0"/>
          </a:p>
        </p:txBody>
      </p:sp>
      <p:sp>
        <p:nvSpPr>
          <p:cNvPr id="49" name="Shape 45"/>
          <p:cNvSpPr/>
          <p:nvPr/>
        </p:nvSpPr>
        <p:spPr>
          <a:xfrm>
            <a:off x="4892040" y="3767328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0" name="Text 46"/>
          <p:cNvSpPr/>
          <p:nvPr/>
        </p:nvSpPr>
        <p:spPr>
          <a:xfrm>
            <a:off x="4892040" y="3767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</a:t>
            </a:r>
            <a:endParaRPr lang="en-US" sz="1200" dirty="0"/>
          </a:p>
        </p:txBody>
      </p:sp>
      <p:sp>
        <p:nvSpPr>
          <p:cNvPr id="51" name="Text 47"/>
          <p:cNvSpPr/>
          <p:nvPr/>
        </p:nvSpPr>
        <p:spPr>
          <a:xfrm>
            <a:off x="5312664" y="374904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พิมพ์ OTP ใน LINE Bot</a:t>
            </a:r>
            <a:endParaRPr lang="en-US" sz="1150" dirty="0"/>
          </a:p>
        </p:txBody>
      </p:sp>
      <p:sp>
        <p:nvSpPr>
          <p:cNvPr id="52" name="Text 48"/>
          <p:cNvSpPr/>
          <p:nvPr/>
        </p:nvSpPr>
        <p:spPr>
          <a:xfrm>
            <a:off x="5312664" y="397764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ผูกบัญชีสำเร็จ!</a:t>
            </a:r>
            <a:endParaRPr lang="en-US" sz="900" dirty="0"/>
          </a:p>
        </p:txBody>
      </p:sp>
      <p:sp>
        <p:nvSpPr>
          <p:cNvPr id="53" name="Shape 49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solidFill>
            <a:srgbClr val="0A1E3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4" name="Text 50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4D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⚠️  ใช้ได้เฉพาะ email @tesaban6.ac.th เท่านั้น · ผูกบัญชีครั้งเดียว ใช้ได้ตลอด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91523"/>
          </a:solidFill>
          <a:ln w="12700">
            <a:solidFill>
              <a:srgbClr val="09152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384048" y="914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แจ้งซ่อมผ่าน LINE Bot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84048" y="512064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รองรับ 2 ระบบ: IT / โสตทัศนศึกษา  และ  อาคารสถานที่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3A526A"/>
          </a:solidFill>
          <a:ln w="12700">
            <a:solidFill>
              <a:srgbClr val="3A526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8229600" y="48646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A526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 / 10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868680"/>
            <a:ext cx="4023360" cy="3657600"/>
          </a:xfrm>
          <a:prstGeom prst="rect">
            <a:avLst/>
          </a:prstGeom>
          <a:solidFill>
            <a:srgbClr val="142032"/>
          </a:solidFill>
          <a:ln w="12700">
            <a:solidFill>
              <a:srgbClr val="142032"/>
            </a:solidFill>
            <a:prstDash val="solid"/>
          </a:ln>
          <a:effectLst>
            <a:outerShdw blurRad="1524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365760" y="868680"/>
            <a:ext cx="64008" cy="365760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502920" y="987552"/>
            <a:ext cx="594360" cy="594360"/>
          </a:xfrm>
          <a:prstGeom prst="ellipse">
            <a:avLst/>
          </a:prstGeom>
          <a:solidFill>
            <a:srgbClr val="048A3B"/>
          </a:solidFill>
          <a:ln w="12700">
            <a:solidFill>
              <a:srgbClr val="048A3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18" y="1089050"/>
            <a:ext cx="393192" cy="39319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88720" y="10058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C7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แจ้งซ่อม IT / โสตทัศนศึกษา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88720" y="137160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คอมพิวเตอร์ · โปรเจคเตอร์ · อุปกรณ์ไฟฟ้า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02920" y="1901952"/>
            <a:ext cx="329184" cy="329184"/>
          </a:xfrm>
          <a:prstGeom prst="ellipse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3"/>
          <p:cNvSpPr/>
          <p:nvPr/>
        </p:nvSpPr>
        <p:spPr>
          <a:xfrm>
            <a:off x="502920" y="1901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23544" y="188366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พิมพ์ 'แจ้งซ่อม'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923544" y="211226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ส่งข้อความเริ่มต้น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02920" y="2450592"/>
            <a:ext cx="329184" cy="329184"/>
          </a:xfrm>
          <a:prstGeom prst="ellipse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Text 17"/>
          <p:cNvSpPr/>
          <p:nvPr/>
        </p:nvSpPr>
        <p:spPr>
          <a:xfrm>
            <a:off x="502920" y="2450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23544" y="243230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อธิบายอาการ/ปัญหา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923544" y="266090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เช่น 'คอมค้าง เปิดไม่ติด'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02920" y="2999232"/>
            <a:ext cx="329184" cy="329184"/>
          </a:xfrm>
          <a:prstGeom prst="ellipse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4" name="Text 21"/>
          <p:cNvSpPr/>
          <p:nvPr/>
        </p:nvSpPr>
        <p:spPr>
          <a:xfrm>
            <a:off x="50292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23544" y="298094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แนบรูปถ่าย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923544" y="320954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ถ้ามีรูป </a:t>
            </a:r>
            <a:r>
              <a:rPr lang="en-US" sz="900" dirty="0" err="1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ช่วยให้</a:t>
            </a:r>
            <a:r>
              <a:rPr lang="th-TH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ประเมินการ</a:t>
            </a:r>
            <a:r>
              <a:rPr lang="en-US" sz="900" dirty="0" err="1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ซ่อมได้เร็วขึ้น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02920" y="3547872"/>
            <a:ext cx="329184" cy="329184"/>
          </a:xfrm>
          <a:prstGeom prst="ellipse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8" name="Text 25"/>
          <p:cNvSpPr/>
          <p:nvPr/>
        </p:nvSpPr>
        <p:spPr>
          <a:xfrm>
            <a:off x="502920" y="3547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23544" y="352958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เลือกห้อง &amp; ตำแหน่ง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923544" y="375818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ระบุตำแหน่งที่เครื่องอยู่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02920" y="4096512"/>
            <a:ext cx="329184" cy="329184"/>
          </a:xfrm>
          <a:prstGeom prst="ellipse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2" name="Text 29"/>
          <p:cNvSpPr/>
          <p:nvPr/>
        </p:nvSpPr>
        <p:spPr>
          <a:xfrm>
            <a:off x="502920" y="4096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923544" y="407822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ยืนยัน → รับหมายเลข Ticket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923544" y="430682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ติดตามสถานะได้ตลอดเวลา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754880" y="868680"/>
            <a:ext cx="4023360" cy="3657600"/>
          </a:xfrm>
          <a:prstGeom prst="rect">
            <a:avLst/>
          </a:prstGeom>
          <a:solidFill>
            <a:srgbClr val="142032"/>
          </a:solidFill>
          <a:ln w="12700">
            <a:solidFill>
              <a:srgbClr val="142032"/>
            </a:solidFill>
            <a:prstDash val="solid"/>
          </a:ln>
          <a:effectLst>
            <a:outerShdw blurRad="1524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36" name="Shape 33"/>
          <p:cNvSpPr/>
          <p:nvPr/>
        </p:nvSpPr>
        <p:spPr>
          <a:xfrm>
            <a:off x="4754880" y="868680"/>
            <a:ext cx="64008" cy="3657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7" name="Shape 34"/>
          <p:cNvSpPr/>
          <p:nvPr/>
        </p:nvSpPr>
        <p:spPr>
          <a:xfrm>
            <a:off x="4892040" y="987552"/>
            <a:ext cx="594360" cy="59436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3538" y="1089050"/>
            <a:ext cx="393192" cy="393192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5577840" y="10058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ซ่อมอาคารสถานที่</a:t>
            </a:r>
            <a:endParaRPr lang="en-US" sz="1200" dirty="0"/>
          </a:p>
        </p:txBody>
      </p:sp>
      <p:sp>
        <p:nvSpPr>
          <p:cNvPr id="40" name="Text 36"/>
          <p:cNvSpPr/>
          <p:nvPr/>
        </p:nvSpPr>
        <p:spPr>
          <a:xfrm>
            <a:off x="5577840" y="137160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น้ำรั่ว · ไฟฟ้า · สิ่งอำนวยความสะดวก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4892040" y="1901952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2" name="Text 38"/>
          <p:cNvSpPr/>
          <p:nvPr/>
        </p:nvSpPr>
        <p:spPr>
          <a:xfrm>
            <a:off x="4892040" y="1901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endParaRPr lang="en-US" sz="1200" dirty="0"/>
          </a:p>
        </p:txBody>
      </p:sp>
      <p:sp>
        <p:nvSpPr>
          <p:cNvPr id="43" name="Text 39"/>
          <p:cNvSpPr/>
          <p:nvPr/>
        </p:nvSpPr>
        <p:spPr>
          <a:xfrm>
            <a:off x="5312664" y="188366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พิมพ์ 'ซ่อมอาคาร'</a:t>
            </a:r>
            <a:endParaRPr lang="en-US" sz="1150" dirty="0"/>
          </a:p>
        </p:txBody>
      </p:sp>
      <p:sp>
        <p:nvSpPr>
          <p:cNvPr id="44" name="Text 40"/>
          <p:cNvSpPr/>
          <p:nvPr/>
        </p:nvSpPr>
        <p:spPr>
          <a:xfrm>
            <a:off x="5312664" y="211226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ส่งข้อความเริ่มต้น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4892040" y="2450592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6" name="Text 42"/>
          <p:cNvSpPr/>
          <p:nvPr/>
        </p:nvSpPr>
        <p:spPr>
          <a:xfrm>
            <a:off x="4892040" y="2450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1200" dirty="0"/>
          </a:p>
        </p:txBody>
      </p:sp>
      <p:sp>
        <p:nvSpPr>
          <p:cNvPr id="47" name="Text 43"/>
          <p:cNvSpPr/>
          <p:nvPr/>
        </p:nvSpPr>
        <p:spPr>
          <a:xfrm>
            <a:off x="5312664" y="243230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อธิบายปัญหา</a:t>
            </a:r>
            <a:endParaRPr lang="en-US" sz="1150" dirty="0"/>
          </a:p>
        </p:txBody>
      </p:sp>
      <p:sp>
        <p:nvSpPr>
          <p:cNvPr id="48" name="Text 44"/>
          <p:cNvSpPr/>
          <p:nvPr/>
        </p:nvSpPr>
        <p:spPr>
          <a:xfrm>
            <a:off x="5312664" y="266090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เช่น 'ห้องน้ำน้ำรั่ว'</a:t>
            </a:r>
            <a:endParaRPr lang="en-US" sz="900" dirty="0"/>
          </a:p>
        </p:txBody>
      </p:sp>
      <p:sp>
        <p:nvSpPr>
          <p:cNvPr id="49" name="Shape 45"/>
          <p:cNvSpPr/>
          <p:nvPr/>
        </p:nvSpPr>
        <p:spPr>
          <a:xfrm>
            <a:off x="4892040" y="2999232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0" name="Text 46"/>
          <p:cNvSpPr/>
          <p:nvPr/>
        </p:nvSpPr>
        <p:spPr>
          <a:xfrm>
            <a:off x="489204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1200" dirty="0"/>
          </a:p>
        </p:txBody>
      </p:sp>
      <p:sp>
        <p:nvSpPr>
          <p:cNvPr id="51" name="Text 47"/>
          <p:cNvSpPr/>
          <p:nvPr/>
        </p:nvSpPr>
        <p:spPr>
          <a:xfrm>
            <a:off x="5312664" y="298094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ระบุตำแหน่ง/สถานที่</a:t>
            </a:r>
            <a:endParaRPr lang="en-US" sz="1150" dirty="0"/>
          </a:p>
        </p:txBody>
      </p:sp>
      <p:sp>
        <p:nvSpPr>
          <p:cNvPr id="52" name="Text 48"/>
          <p:cNvSpPr/>
          <p:nvPr/>
        </p:nvSpPr>
        <p:spPr>
          <a:xfrm>
            <a:off x="5312664" y="320954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อาคาร ชั้น ห้องที่เกิดปัญหา</a:t>
            </a:r>
            <a:endParaRPr lang="en-US" sz="900" dirty="0"/>
          </a:p>
        </p:txBody>
      </p:sp>
      <p:sp>
        <p:nvSpPr>
          <p:cNvPr id="53" name="Shape 49"/>
          <p:cNvSpPr/>
          <p:nvPr/>
        </p:nvSpPr>
        <p:spPr>
          <a:xfrm>
            <a:off x="4892040" y="3547872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4" name="Text 50"/>
          <p:cNvSpPr/>
          <p:nvPr/>
        </p:nvSpPr>
        <p:spPr>
          <a:xfrm>
            <a:off x="4892040" y="3547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</a:t>
            </a:r>
            <a:endParaRPr lang="en-US" sz="1200" dirty="0"/>
          </a:p>
        </p:txBody>
      </p:sp>
      <p:sp>
        <p:nvSpPr>
          <p:cNvPr id="55" name="Text 51"/>
          <p:cNvSpPr/>
          <p:nvPr/>
        </p:nvSpPr>
        <p:spPr>
          <a:xfrm>
            <a:off x="5312664" y="352958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แนบรูปถ่าย</a:t>
            </a:r>
            <a:endParaRPr lang="en-US" sz="1150" dirty="0"/>
          </a:p>
        </p:txBody>
      </p:sp>
      <p:sp>
        <p:nvSpPr>
          <p:cNvPr id="56" name="Text 52"/>
          <p:cNvSpPr/>
          <p:nvPr/>
        </p:nvSpPr>
        <p:spPr>
          <a:xfrm>
            <a:off x="5312664" y="375818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ช่วยให้ทีมประเมินได้เร็วขึ้น</a:t>
            </a:r>
            <a:endParaRPr lang="en-US" sz="900" dirty="0"/>
          </a:p>
        </p:txBody>
      </p:sp>
      <p:sp>
        <p:nvSpPr>
          <p:cNvPr id="57" name="Shape 53"/>
          <p:cNvSpPr/>
          <p:nvPr/>
        </p:nvSpPr>
        <p:spPr>
          <a:xfrm>
            <a:off x="4892040" y="4096512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8" name="Text 54"/>
          <p:cNvSpPr/>
          <p:nvPr/>
        </p:nvSpPr>
        <p:spPr>
          <a:xfrm>
            <a:off x="4892040" y="4096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5</a:t>
            </a:r>
            <a:endParaRPr lang="en-US" sz="1200" dirty="0"/>
          </a:p>
        </p:txBody>
      </p:sp>
      <p:sp>
        <p:nvSpPr>
          <p:cNvPr id="59" name="Text 55"/>
          <p:cNvSpPr/>
          <p:nvPr/>
        </p:nvSpPr>
        <p:spPr>
          <a:xfrm>
            <a:off x="5312664" y="407822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ยืนยัน → รับหมายเลข Ticket</a:t>
            </a:r>
            <a:endParaRPr lang="en-US" sz="1150" dirty="0"/>
          </a:p>
        </p:txBody>
      </p:sp>
      <p:sp>
        <p:nvSpPr>
          <p:cNvPr id="60" name="Text 56"/>
          <p:cNvSpPr/>
          <p:nvPr/>
        </p:nvSpPr>
        <p:spPr>
          <a:xfrm>
            <a:off x="5312664" y="430682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ติดตามสถานะผ่าน LINE</a:t>
            </a:r>
            <a:endParaRPr lang="en-US" sz="900" dirty="0"/>
          </a:p>
        </p:txBody>
      </p:sp>
      <p:sp>
        <p:nvSpPr>
          <p:cNvPr id="61" name="Shape 57"/>
          <p:cNvSpPr/>
          <p:nvPr/>
        </p:nvSpPr>
        <p:spPr>
          <a:xfrm>
            <a:off x="365760" y="4626864"/>
            <a:ext cx="8412480" cy="274320"/>
          </a:xfrm>
          <a:prstGeom prst="rect">
            <a:avLst/>
          </a:prstGeom>
          <a:solidFill>
            <a:srgbClr val="0A1E30"/>
          </a:solidFill>
          <a:ln w="12700">
            <a:solidFill>
              <a:srgbClr val="06C75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2" name="Text 58"/>
          <p:cNvSpPr/>
          <p:nvPr/>
        </p:nvSpPr>
        <p:spPr>
          <a:xfrm>
            <a:off x="365760" y="46268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C7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📱  รับการแจ้งเตือนสถานะซ่อมอัตโนมัติผ่าน LINE  ·  ติดตามสถานะได้ทุกเมื่อ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91523"/>
          </a:solidFill>
          <a:ln w="12700">
            <a:solidFill>
              <a:srgbClr val="09152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384048" y="914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แจ้งซ่อมผ่าน Web Browser &amp; LINE LIFF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84048" y="512064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เข้าถึงได้ทั้งบน PC และมือถือ · ไม่ต้องติดตั้งแอปเพิ่มเติม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3A526A"/>
          </a:solidFill>
          <a:ln w="12700">
            <a:solidFill>
              <a:srgbClr val="3A526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8229600" y="48646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A526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5 / 10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868680"/>
            <a:ext cx="4023360" cy="3931920"/>
          </a:xfrm>
          <a:prstGeom prst="rect">
            <a:avLst/>
          </a:prstGeom>
          <a:solidFill>
            <a:srgbClr val="142032"/>
          </a:solidFill>
          <a:ln w="12700">
            <a:solidFill>
              <a:srgbClr val="142032"/>
            </a:solidFill>
            <a:prstDash val="solid"/>
          </a:ln>
          <a:effectLst>
            <a:outerShdw blurRad="1524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365760" y="868680"/>
            <a:ext cx="64008" cy="3931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502920" y="987552"/>
            <a:ext cx="594360" cy="594360"/>
          </a:xfrm>
          <a:prstGeom prst="ellipse">
            <a:avLst/>
          </a:prstGeom>
          <a:solidFill>
            <a:srgbClr val="0089A6"/>
          </a:solidFill>
          <a:ln w="12700">
            <a:solidFill>
              <a:srgbClr val="0089A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18" y="1089050"/>
            <a:ext cx="393192" cy="39319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88720" y="10241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ผ่าน Web Browser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" y="1645920"/>
            <a:ext cx="3767328" cy="292608"/>
          </a:xfrm>
          <a:prstGeom prst="rect">
            <a:avLst/>
          </a:prstGeom>
          <a:solidFill>
            <a:srgbClr val="0A1E3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Text 12"/>
          <p:cNvSpPr/>
          <p:nvPr/>
        </p:nvSpPr>
        <p:spPr>
          <a:xfrm>
            <a:off x="640080" y="16459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4D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crms6it.tesaban6.ac.th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02920" y="2057400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Text 14"/>
          <p:cNvSpPr/>
          <p:nvPr/>
        </p:nvSpPr>
        <p:spPr>
          <a:xfrm>
            <a:off x="502920" y="2057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23544" y="203911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เปิด Browser บน PC/มือถือ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923544" y="226771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Chrome / Firefox / Safari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02920" y="2606040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Text 18"/>
          <p:cNvSpPr/>
          <p:nvPr/>
        </p:nvSpPr>
        <p:spPr>
          <a:xfrm>
            <a:off x="502920" y="2606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23544" y="2587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เข้าสู่ระบบด้วย Google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923544" y="281635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@tesaban6.ac.th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02920" y="3154680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5" name="Text 22"/>
          <p:cNvSpPr/>
          <p:nvPr/>
        </p:nvSpPr>
        <p:spPr>
          <a:xfrm>
            <a:off x="502920" y="3154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923544" y="313639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กด 'แจ้งซ่อม' ในเมนูหลัก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502920" y="3703320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8" name="Text 25"/>
          <p:cNvSpPr/>
          <p:nvPr/>
        </p:nvSpPr>
        <p:spPr>
          <a:xfrm>
            <a:off x="502920" y="3703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23544" y="368503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เลือกประเภท: IT หรือ อาคาร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923544" y="391363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มี 2 Tab ให้เลือก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02920" y="4251960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2" name="Text 29"/>
          <p:cNvSpPr/>
          <p:nvPr/>
        </p:nvSpPr>
        <p:spPr>
          <a:xfrm>
            <a:off x="502920" y="4251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923544" y="423367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กรอกข้อมูล → Submit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923544" y="446227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รับ Ticket ทันที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754880" y="868680"/>
            <a:ext cx="4023360" cy="3931920"/>
          </a:xfrm>
          <a:prstGeom prst="rect">
            <a:avLst/>
          </a:prstGeom>
          <a:solidFill>
            <a:srgbClr val="142032"/>
          </a:solidFill>
          <a:ln w="12700">
            <a:solidFill>
              <a:srgbClr val="142032"/>
            </a:solidFill>
            <a:prstDash val="solid"/>
          </a:ln>
          <a:effectLst>
            <a:outerShdw blurRad="1524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36" name="Shape 33"/>
          <p:cNvSpPr/>
          <p:nvPr/>
        </p:nvSpPr>
        <p:spPr>
          <a:xfrm>
            <a:off x="4754880" y="868680"/>
            <a:ext cx="64008" cy="393192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7" name="Shape 34"/>
          <p:cNvSpPr/>
          <p:nvPr/>
        </p:nvSpPr>
        <p:spPr>
          <a:xfrm>
            <a:off x="4892040" y="987552"/>
            <a:ext cx="594360" cy="594360"/>
          </a:xfrm>
          <a:prstGeom prst="ellipse">
            <a:avLst/>
          </a:prstGeom>
          <a:solidFill>
            <a:srgbClr val="048A3B"/>
          </a:solidFill>
          <a:ln w="12700">
            <a:solidFill>
              <a:srgbClr val="048A3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3538" y="1089050"/>
            <a:ext cx="393192" cy="393192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5577840" y="10241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C7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ผ่าน LINE LIFF (ในแอป LINE)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4892040" y="1645920"/>
            <a:ext cx="3767328" cy="292608"/>
          </a:xfrm>
          <a:prstGeom prst="rect">
            <a:avLst/>
          </a:prstGeom>
          <a:solidFill>
            <a:srgbClr val="0A1E30"/>
          </a:solidFill>
          <a:ln w="12700">
            <a:solidFill>
              <a:srgbClr val="06C75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1" name="Shape 37"/>
          <p:cNvSpPr/>
          <p:nvPr/>
        </p:nvSpPr>
        <p:spPr>
          <a:xfrm>
            <a:off x="4892040" y="1645920"/>
            <a:ext cx="1252728" cy="292608"/>
          </a:xfrm>
          <a:prstGeom prst="rect">
            <a:avLst/>
          </a:prstGeom>
          <a:solidFill>
            <a:srgbClr val="048A3B"/>
          </a:solidFill>
          <a:ln w="12700">
            <a:solidFill>
              <a:srgbClr val="048A3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2" name="Text 38"/>
          <p:cNvSpPr/>
          <p:nvPr/>
        </p:nvSpPr>
        <p:spPr>
          <a:xfrm>
            <a:off x="4892040" y="1645920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แจ้งซ่อม IT</a:t>
            </a:r>
            <a:endParaRPr lang="en-US" sz="850" dirty="0"/>
          </a:p>
        </p:txBody>
      </p:sp>
      <p:sp>
        <p:nvSpPr>
          <p:cNvPr id="43" name="Shape 39"/>
          <p:cNvSpPr/>
          <p:nvPr/>
        </p:nvSpPr>
        <p:spPr>
          <a:xfrm>
            <a:off x="6144768" y="1645920"/>
            <a:ext cx="1252728" cy="292608"/>
          </a:xfrm>
          <a:prstGeom prst="rect">
            <a:avLst/>
          </a:prstGeom>
          <a:solidFill>
            <a:srgbClr val="142032"/>
          </a:solidFill>
          <a:ln w="12700">
            <a:solidFill>
              <a:srgbClr val="14203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4" name="Text 40"/>
          <p:cNvSpPr/>
          <p:nvPr/>
        </p:nvSpPr>
        <p:spPr>
          <a:xfrm>
            <a:off x="6144768" y="1645920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ซ่อมอาคาร</a:t>
            </a:r>
            <a:endParaRPr lang="en-US" sz="850" dirty="0"/>
          </a:p>
        </p:txBody>
      </p:sp>
      <p:sp>
        <p:nvSpPr>
          <p:cNvPr id="45" name="Shape 41"/>
          <p:cNvSpPr/>
          <p:nvPr/>
        </p:nvSpPr>
        <p:spPr>
          <a:xfrm>
            <a:off x="7397496" y="1645920"/>
            <a:ext cx="1252728" cy="292608"/>
          </a:xfrm>
          <a:prstGeom prst="rect">
            <a:avLst/>
          </a:prstGeom>
          <a:solidFill>
            <a:srgbClr val="142032"/>
          </a:solidFill>
          <a:ln w="12700">
            <a:solidFill>
              <a:srgbClr val="14203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6" name="Text 42"/>
          <p:cNvSpPr/>
          <p:nvPr/>
        </p:nvSpPr>
        <p:spPr>
          <a:xfrm>
            <a:off x="7397496" y="1645920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ประวัติ</a:t>
            </a:r>
            <a:endParaRPr lang="en-US" sz="850" dirty="0"/>
          </a:p>
        </p:txBody>
      </p:sp>
      <p:sp>
        <p:nvSpPr>
          <p:cNvPr id="47" name="Shape 43"/>
          <p:cNvSpPr/>
          <p:nvPr/>
        </p:nvSpPr>
        <p:spPr>
          <a:xfrm>
            <a:off x="4892040" y="2057400"/>
            <a:ext cx="329184" cy="329184"/>
          </a:xfrm>
          <a:prstGeom prst="ellipse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8" name="Text 44"/>
          <p:cNvSpPr/>
          <p:nvPr/>
        </p:nvSpPr>
        <p:spPr>
          <a:xfrm>
            <a:off x="4892040" y="2057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endParaRPr lang="en-US" sz="1200" dirty="0"/>
          </a:p>
        </p:txBody>
      </p:sp>
      <p:sp>
        <p:nvSpPr>
          <p:cNvPr id="49" name="Text 45"/>
          <p:cNvSpPr/>
          <p:nvPr/>
        </p:nvSpPr>
        <p:spPr>
          <a:xfrm>
            <a:off x="5312664" y="203911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เปิด LINE App</a:t>
            </a:r>
            <a:endParaRPr lang="en-US" sz="1150" dirty="0"/>
          </a:p>
        </p:txBody>
      </p:sp>
      <p:sp>
        <p:nvSpPr>
          <p:cNvPr id="50" name="Text 46"/>
          <p:cNvSpPr/>
          <p:nvPr/>
        </p:nvSpPr>
        <p:spPr>
          <a:xfrm>
            <a:off x="5312664" y="226771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บนมือถือ</a:t>
            </a:r>
            <a:endParaRPr lang="en-US" sz="900" dirty="0"/>
          </a:p>
        </p:txBody>
      </p:sp>
      <p:sp>
        <p:nvSpPr>
          <p:cNvPr id="51" name="Shape 47"/>
          <p:cNvSpPr/>
          <p:nvPr/>
        </p:nvSpPr>
        <p:spPr>
          <a:xfrm>
            <a:off x="4892040" y="2606040"/>
            <a:ext cx="329184" cy="329184"/>
          </a:xfrm>
          <a:prstGeom prst="ellipse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2" name="Text 48"/>
          <p:cNvSpPr/>
          <p:nvPr/>
        </p:nvSpPr>
        <p:spPr>
          <a:xfrm>
            <a:off x="4892040" y="2606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1200" dirty="0"/>
          </a:p>
        </p:txBody>
      </p:sp>
      <p:sp>
        <p:nvSpPr>
          <p:cNvPr id="53" name="Text 49"/>
          <p:cNvSpPr/>
          <p:nvPr/>
        </p:nvSpPr>
        <p:spPr>
          <a:xfrm>
            <a:off x="5312664" y="2587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กดเมนู 'แจ้งซ่อม' ใน Chat</a:t>
            </a:r>
            <a:endParaRPr lang="en-US" sz="1150" dirty="0"/>
          </a:p>
        </p:txBody>
      </p:sp>
      <p:sp>
        <p:nvSpPr>
          <p:cNvPr id="54" name="Text 50"/>
          <p:cNvSpPr/>
          <p:nvPr/>
        </p:nvSpPr>
        <p:spPr>
          <a:xfrm>
            <a:off x="5312664" y="281635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เปิดหน้า LIFF โดยอัตโนมัติ</a:t>
            </a:r>
            <a:endParaRPr lang="en-US" sz="900" dirty="0"/>
          </a:p>
        </p:txBody>
      </p:sp>
      <p:sp>
        <p:nvSpPr>
          <p:cNvPr id="55" name="Shape 51"/>
          <p:cNvSpPr/>
          <p:nvPr/>
        </p:nvSpPr>
        <p:spPr>
          <a:xfrm>
            <a:off x="4892040" y="3154680"/>
            <a:ext cx="329184" cy="329184"/>
          </a:xfrm>
          <a:prstGeom prst="ellipse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6" name="Text 52"/>
          <p:cNvSpPr/>
          <p:nvPr/>
        </p:nvSpPr>
        <p:spPr>
          <a:xfrm>
            <a:off x="4892040" y="3154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1200" dirty="0"/>
          </a:p>
        </p:txBody>
      </p:sp>
      <p:sp>
        <p:nvSpPr>
          <p:cNvPr id="57" name="Text 53"/>
          <p:cNvSpPr/>
          <p:nvPr/>
        </p:nvSpPr>
        <p:spPr>
          <a:xfrm>
            <a:off x="5312664" y="313639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เลือก Tab: IT หรือ อาคาร</a:t>
            </a:r>
            <a:endParaRPr lang="en-US" sz="1150" dirty="0"/>
          </a:p>
        </p:txBody>
      </p:sp>
      <p:sp>
        <p:nvSpPr>
          <p:cNvPr id="58" name="Text 54"/>
          <p:cNvSpPr/>
          <p:nvPr/>
        </p:nvSpPr>
        <p:spPr>
          <a:xfrm>
            <a:off x="5312664" y="33649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หรือดูประวัติการแจ้งซ่อม</a:t>
            </a:r>
            <a:endParaRPr lang="en-US" sz="900" dirty="0"/>
          </a:p>
        </p:txBody>
      </p:sp>
      <p:sp>
        <p:nvSpPr>
          <p:cNvPr id="59" name="Shape 55"/>
          <p:cNvSpPr/>
          <p:nvPr/>
        </p:nvSpPr>
        <p:spPr>
          <a:xfrm>
            <a:off x="4892040" y="3703320"/>
            <a:ext cx="329184" cy="329184"/>
          </a:xfrm>
          <a:prstGeom prst="ellipse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0" name="Text 56"/>
          <p:cNvSpPr/>
          <p:nvPr/>
        </p:nvSpPr>
        <p:spPr>
          <a:xfrm>
            <a:off x="4892040" y="3703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</a:t>
            </a:r>
            <a:endParaRPr lang="en-US" sz="1200" dirty="0"/>
          </a:p>
        </p:txBody>
      </p:sp>
      <p:sp>
        <p:nvSpPr>
          <p:cNvPr id="61" name="Text 57"/>
          <p:cNvSpPr/>
          <p:nvPr/>
        </p:nvSpPr>
        <p:spPr>
          <a:xfrm>
            <a:off x="5312664" y="368503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กรอกข้อมูลและส่ง</a:t>
            </a:r>
            <a:endParaRPr lang="en-US" sz="1150" dirty="0"/>
          </a:p>
        </p:txBody>
      </p:sp>
      <p:sp>
        <p:nvSpPr>
          <p:cNvPr id="62" name="Text 58"/>
          <p:cNvSpPr/>
          <p:nvPr/>
        </p:nvSpPr>
        <p:spPr>
          <a:xfrm>
            <a:off x="5312664" y="391363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ไม่ต้อง Login ซ้ำ (ผูกบัญชีแล้ว)</a:t>
            </a:r>
            <a:endParaRPr lang="en-US" sz="900" dirty="0"/>
          </a:p>
        </p:txBody>
      </p:sp>
      <p:sp>
        <p:nvSpPr>
          <p:cNvPr id="63" name="Shape 59"/>
          <p:cNvSpPr/>
          <p:nvPr/>
        </p:nvSpPr>
        <p:spPr>
          <a:xfrm>
            <a:off x="4892040" y="4251960"/>
            <a:ext cx="329184" cy="329184"/>
          </a:xfrm>
          <a:prstGeom prst="ellipse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4" name="Text 60"/>
          <p:cNvSpPr/>
          <p:nvPr/>
        </p:nvSpPr>
        <p:spPr>
          <a:xfrm>
            <a:off x="4892040" y="4251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5</a:t>
            </a:r>
            <a:endParaRPr lang="en-US" sz="1200" dirty="0"/>
          </a:p>
        </p:txBody>
      </p:sp>
      <p:sp>
        <p:nvSpPr>
          <p:cNvPr id="65" name="Text 61"/>
          <p:cNvSpPr/>
          <p:nvPr/>
        </p:nvSpPr>
        <p:spPr>
          <a:xfrm>
            <a:off x="5312664" y="423367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รับ Ticket + แจ้งเตือนใน LINE</a:t>
            </a:r>
            <a:endParaRPr lang="en-US" sz="1150" dirty="0"/>
          </a:p>
        </p:txBody>
      </p:sp>
      <p:sp>
        <p:nvSpPr>
          <p:cNvPr id="66" name="Text 62"/>
          <p:cNvSpPr/>
          <p:nvPr/>
        </p:nvSpPr>
        <p:spPr>
          <a:xfrm>
            <a:off x="5312664" y="446227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ติดตามสถานะได้ทันที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91523"/>
          </a:solidFill>
          <a:ln w="12700">
            <a:solidFill>
              <a:srgbClr val="09152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384048" y="914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จองห้องประชุม &amp; จองช่างภาพ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84048" y="512064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รองรับ 7 ห้อง (ม.ต้น 3 ห้อง · ม.ปลาย 4 ห้อง) + คิวช่างภาพ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3A526A"/>
          </a:solidFill>
          <a:ln w="12700">
            <a:solidFill>
              <a:srgbClr val="3A526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8229600" y="48646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A526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6 / 10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868680"/>
            <a:ext cx="2670048" cy="3931920"/>
          </a:xfrm>
          <a:prstGeom prst="rect">
            <a:avLst/>
          </a:prstGeom>
          <a:solidFill>
            <a:srgbClr val="142032"/>
          </a:solidFill>
          <a:ln w="12700">
            <a:solidFill>
              <a:srgbClr val="142032"/>
            </a:solidFill>
            <a:prstDash val="solid"/>
          </a:ln>
          <a:effectLst>
            <a:outerShdw blurRad="1524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365760" y="868680"/>
            <a:ext cx="64008" cy="393192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512064" y="9144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C7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ม.ต้น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12064" y="1353312"/>
            <a:ext cx="2395728" cy="749808"/>
          </a:xfrm>
          <a:prstGeom prst="rect">
            <a:avLst/>
          </a:prstGeom>
          <a:solidFill>
            <a:srgbClr val="0F2A1C"/>
          </a:solidFill>
          <a:ln w="12700">
            <a:solidFill>
              <a:srgbClr val="0F2A1C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512064" y="1353312"/>
            <a:ext cx="45720" cy="749808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640080" y="138988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พญาสัตบรรณ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1664208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ห้องประชุม ม.ต้น 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12064" y="2267712"/>
            <a:ext cx="2395728" cy="749808"/>
          </a:xfrm>
          <a:prstGeom prst="rect">
            <a:avLst/>
          </a:prstGeom>
          <a:solidFill>
            <a:srgbClr val="0F2A1C"/>
          </a:solidFill>
          <a:ln w="12700">
            <a:solidFill>
              <a:srgbClr val="0F2A1C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7" name="Shape 15"/>
          <p:cNvSpPr/>
          <p:nvPr/>
        </p:nvSpPr>
        <p:spPr>
          <a:xfrm>
            <a:off x="512064" y="2267712"/>
            <a:ext cx="45720" cy="749808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/>
          <p:nvPr/>
        </p:nvSpPr>
        <p:spPr>
          <a:xfrm>
            <a:off x="640080" y="230428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โรงยิม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2578608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ห้องอเนกประสงค์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12064" y="3182112"/>
            <a:ext cx="2395728" cy="749808"/>
          </a:xfrm>
          <a:prstGeom prst="rect">
            <a:avLst/>
          </a:prstGeom>
          <a:solidFill>
            <a:srgbClr val="0F2A1C"/>
          </a:solidFill>
          <a:ln w="12700">
            <a:solidFill>
              <a:srgbClr val="0F2A1C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512064" y="3182112"/>
            <a:ext cx="45720" cy="749808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640080" y="321868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จามจุรี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3493008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ห้องประชุมขนาดเล็ก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36976" y="868680"/>
            <a:ext cx="2670048" cy="3931920"/>
          </a:xfrm>
          <a:prstGeom prst="rect">
            <a:avLst/>
          </a:prstGeom>
          <a:solidFill>
            <a:srgbClr val="142032"/>
          </a:solidFill>
          <a:ln w="12700">
            <a:solidFill>
              <a:srgbClr val="142032"/>
            </a:solidFill>
            <a:prstDash val="solid"/>
          </a:ln>
          <a:effectLst>
            <a:outerShdw blurRad="1524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5" name="Shape 23"/>
          <p:cNvSpPr/>
          <p:nvPr/>
        </p:nvSpPr>
        <p:spPr>
          <a:xfrm>
            <a:off x="3236976" y="868680"/>
            <a:ext cx="64008" cy="3931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6" name="Text 24"/>
          <p:cNvSpPr/>
          <p:nvPr/>
        </p:nvSpPr>
        <p:spPr>
          <a:xfrm>
            <a:off x="3383280" y="9144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ม.ปลาย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383280" y="1353312"/>
            <a:ext cx="2395728" cy="548640"/>
          </a:xfrm>
          <a:prstGeom prst="rect">
            <a:avLst/>
          </a:prstGeom>
          <a:solidFill>
            <a:srgbClr val="091E2A"/>
          </a:solidFill>
          <a:ln w="12700">
            <a:solidFill>
              <a:srgbClr val="091E2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8" name="Shape 26"/>
          <p:cNvSpPr/>
          <p:nvPr/>
        </p:nvSpPr>
        <p:spPr>
          <a:xfrm>
            <a:off x="3383280" y="1353312"/>
            <a:ext cx="45720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9" name="Text 27"/>
          <p:cNvSpPr/>
          <p:nvPr/>
        </p:nvSpPr>
        <p:spPr>
          <a:xfrm>
            <a:off x="3511296" y="1371600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ลีลาวดี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511296" y="1609344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ห้องประชุม ม.ปลาย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83280" y="2011680"/>
            <a:ext cx="2395728" cy="548640"/>
          </a:xfrm>
          <a:prstGeom prst="rect">
            <a:avLst/>
          </a:prstGeom>
          <a:solidFill>
            <a:srgbClr val="091E2A"/>
          </a:solidFill>
          <a:ln w="12700">
            <a:solidFill>
              <a:srgbClr val="091E2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32" name="Shape 30"/>
          <p:cNvSpPr/>
          <p:nvPr/>
        </p:nvSpPr>
        <p:spPr>
          <a:xfrm>
            <a:off x="3383280" y="2011680"/>
            <a:ext cx="45720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3" name="Text 31"/>
          <p:cNvSpPr/>
          <p:nvPr/>
        </p:nvSpPr>
        <p:spPr>
          <a:xfrm>
            <a:off x="3511296" y="2029968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หอประชุม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511296" y="2267712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Auditorium ใหญ่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383280" y="2670048"/>
            <a:ext cx="2395728" cy="548640"/>
          </a:xfrm>
          <a:prstGeom prst="rect">
            <a:avLst/>
          </a:prstGeom>
          <a:solidFill>
            <a:srgbClr val="091E2A"/>
          </a:solidFill>
          <a:ln w="12700">
            <a:solidFill>
              <a:srgbClr val="091E2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36" name="Shape 34"/>
          <p:cNvSpPr/>
          <p:nvPr/>
        </p:nvSpPr>
        <p:spPr>
          <a:xfrm>
            <a:off x="3383280" y="2670048"/>
            <a:ext cx="45720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7" name="Text 35"/>
          <p:cNvSpPr/>
          <p:nvPr/>
        </p:nvSpPr>
        <p:spPr>
          <a:xfrm>
            <a:off x="3511296" y="2688336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วิทย์กษัตริย์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511296" y="2926080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ห้องประชุมวิทยาศาสตร์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383280" y="3328416"/>
            <a:ext cx="2395728" cy="548640"/>
          </a:xfrm>
          <a:prstGeom prst="rect">
            <a:avLst/>
          </a:prstGeom>
          <a:solidFill>
            <a:srgbClr val="091E2A"/>
          </a:solidFill>
          <a:ln w="12700">
            <a:solidFill>
              <a:srgbClr val="091E2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40" name="Shape 38"/>
          <p:cNvSpPr/>
          <p:nvPr/>
        </p:nvSpPr>
        <p:spPr>
          <a:xfrm>
            <a:off x="3383280" y="3328416"/>
            <a:ext cx="45720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1" name="Text 39"/>
          <p:cNvSpPr/>
          <p:nvPr/>
        </p:nvSpPr>
        <p:spPr>
          <a:xfrm>
            <a:off x="3511296" y="3346704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ภาษา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511296" y="3584448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ห้องเรียนภาษา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108192" y="868680"/>
            <a:ext cx="2670048" cy="3931920"/>
          </a:xfrm>
          <a:prstGeom prst="rect">
            <a:avLst/>
          </a:prstGeom>
          <a:solidFill>
            <a:srgbClr val="142032"/>
          </a:solidFill>
          <a:ln w="12700">
            <a:solidFill>
              <a:srgbClr val="142032"/>
            </a:solidFill>
            <a:prstDash val="solid"/>
          </a:ln>
          <a:effectLst>
            <a:outerShdw blurRad="1524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44" name="Shape 42"/>
          <p:cNvSpPr/>
          <p:nvPr/>
        </p:nvSpPr>
        <p:spPr>
          <a:xfrm>
            <a:off x="6108192" y="868680"/>
            <a:ext cx="64008" cy="3931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5" name="Shape 43"/>
          <p:cNvSpPr/>
          <p:nvPr/>
        </p:nvSpPr>
        <p:spPr>
          <a:xfrm>
            <a:off x="6245352" y="987552"/>
            <a:ext cx="566928" cy="566928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4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765" y="1089965"/>
            <a:ext cx="365760" cy="365760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6903720" y="10241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จองช่างภาพ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6245352" y="1691640"/>
            <a:ext cx="329184" cy="32918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9" name="Text 46"/>
          <p:cNvSpPr/>
          <p:nvPr/>
        </p:nvSpPr>
        <p:spPr>
          <a:xfrm>
            <a:off x="6245352" y="1691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6665976" y="16733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ระบุวัน + เวลา</a:t>
            </a:r>
            <a:endParaRPr lang="en-US" sz="1150" dirty="0"/>
          </a:p>
        </p:txBody>
      </p:sp>
      <p:sp>
        <p:nvSpPr>
          <p:cNvPr id="51" name="Text 48"/>
          <p:cNvSpPr/>
          <p:nvPr/>
        </p:nvSpPr>
        <p:spPr>
          <a:xfrm>
            <a:off x="6665976" y="19019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วันที่ต้องการช่างภาพ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6245352" y="2313432"/>
            <a:ext cx="329184" cy="32918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3" name="Text 50"/>
          <p:cNvSpPr/>
          <p:nvPr/>
        </p:nvSpPr>
        <p:spPr>
          <a:xfrm>
            <a:off x="6245352" y="2313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6665976" y="229514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ระบุชื่องาน/กิจกรรม</a:t>
            </a:r>
            <a:endParaRPr lang="en-US" sz="1150" dirty="0"/>
          </a:p>
        </p:txBody>
      </p:sp>
      <p:sp>
        <p:nvSpPr>
          <p:cNvPr id="55" name="Text 52"/>
          <p:cNvSpPr/>
          <p:nvPr/>
        </p:nvSpPr>
        <p:spPr>
          <a:xfrm>
            <a:off x="6665976" y="25237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รายละเอียดงาน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6245352" y="2935224"/>
            <a:ext cx="329184" cy="32918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7" name="Text 54"/>
          <p:cNvSpPr/>
          <p:nvPr/>
        </p:nvSpPr>
        <p:spPr>
          <a:xfrm>
            <a:off x="6245352" y="29352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1200" dirty="0"/>
          </a:p>
        </p:txBody>
      </p:sp>
      <p:sp>
        <p:nvSpPr>
          <p:cNvPr id="58" name="Text 55"/>
          <p:cNvSpPr/>
          <p:nvPr/>
        </p:nvSpPr>
        <p:spPr>
          <a:xfrm>
            <a:off x="6665976" y="291693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ยืนยันคำขอ</a:t>
            </a:r>
            <a:endParaRPr lang="en-US" sz="1150" dirty="0"/>
          </a:p>
        </p:txBody>
      </p:sp>
      <p:sp>
        <p:nvSpPr>
          <p:cNvPr id="59" name="Text 56"/>
          <p:cNvSpPr/>
          <p:nvPr/>
        </p:nvSpPr>
        <p:spPr>
          <a:xfrm>
            <a:off x="6665976" y="31455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รอช่างยืนยันรับงาน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6245352" y="3621024"/>
            <a:ext cx="2414016" cy="731520"/>
          </a:xfrm>
          <a:prstGeom prst="rect">
            <a:avLst/>
          </a:prstGeom>
          <a:solidFill>
            <a:srgbClr val="1A1030"/>
          </a:solidFill>
          <a:ln w="12700">
            <a:solidFill>
              <a:srgbClr val="8B5CF6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1" name="Text 58"/>
          <p:cNvSpPr/>
          <p:nvPr/>
        </p:nvSpPr>
        <p:spPr>
          <a:xfrm>
            <a:off x="6336792" y="36576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วิธีจอง</a:t>
            </a:r>
            <a:endParaRPr lang="en-US" sz="1000" dirty="0"/>
          </a:p>
        </p:txBody>
      </p:sp>
      <p:sp>
        <p:nvSpPr>
          <p:cNvPr id="62" name="Text 59"/>
          <p:cNvSpPr/>
          <p:nvPr/>
        </p:nvSpPr>
        <p:spPr>
          <a:xfrm>
            <a:off x="6336792" y="387705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พิมพ์ 'จองห้อง' หรือ 'จองช่างภาพ'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ใน LINE Bot หรือเข้าเว็บไซต์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457200" y="4809744"/>
            <a:ext cx="1097280" cy="237744"/>
          </a:xfrm>
          <a:prstGeom prst="roundRect">
            <a:avLst>
              <a:gd name="adj" fmla="val 38462"/>
            </a:avLst>
          </a:prstGeom>
          <a:solidFill>
            <a:srgbClr val="048A3B"/>
          </a:solidFill>
          <a:ln w="12700">
            <a:solidFill>
              <a:srgbClr val="048A3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4" name="Text 61"/>
          <p:cNvSpPr/>
          <p:nvPr/>
        </p:nvSpPr>
        <p:spPr>
          <a:xfrm>
            <a:off x="457200" y="480974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LINE Bot</a:t>
            </a:r>
            <a:endParaRPr lang="en-US" sz="850" dirty="0"/>
          </a:p>
        </p:txBody>
      </p:sp>
      <p:sp>
        <p:nvSpPr>
          <p:cNvPr id="65" name="Shape 62"/>
          <p:cNvSpPr/>
          <p:nvPr/>
        </p:nvSpPr>
        <p:spPr>
          <a:xfrm>
            <a:off x="1645920" y="4809744"/>
            <a:ext cx="1097280" cy="237744"/>
          </a:xfrm>
          <a:prstGeom prst="roundRect">
            <a:avLst>
              <a:gd name="adj" fmla="val 38462"/>
            </a:avLst>
          </a:prstGeom>
          <a:solidFill>
            <a:srgbClr val="0089A6"/>
          </a:solidFill>
          <a:ln w="12700">
            <a:solidFill>
              <a:srgbClr val="0089A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6" name="Text 63"/>
          <p:cNvSpPr/>
          <p:nvPr/>
        </p:nvSpPr>
        <p:spPr>
          <a:xfrm>
            <a:off x="1645920" y="480974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Web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91523"/>
          </a:solidFill>
          <a:ln w="12700">
            <a:solidFill>
              <a:srgbClr val="09152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384048" y="914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ค้นหาภาพกิจกรรม ผ่าน LINE Bot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84048" y="512064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ค้นหาภาพและวิดีโองานกิจกรรม ด้วยคำสำคัญ ง่ายและรวดเร็ว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3A526A"/>
          </a:solidFill>
          <a:ln w="12700">
            <a:solidFill>
              <a:srgbClr val="3A526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8229600" y="48646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A526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7 / 10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868680"/>
            <a:ext cx="2724912" cy="3931920"/>
          </a:xfrm>
          <a:prstGeom prst="rect">
            <a:avLst/>
          </a:prstGeom>
          <a:solidFill>
            <a:srgbClr val="1A1030"/>
          </a:solidFill>
          <a:ln w="12700">
            <a:solidFill>
              <a:srgbClr val="1A1030"/>
            </a:solidFill>
            <a:prstDash val="solid"/>
          </a:ln>
          <a:effectLst>
            <a:outerShdw blurRad="1524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365760" y="868680"/>
            <a:ext cx="2724912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1362456" y="1261872"/>
            <a:ext cx="731520" cy="7315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524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328" y="1380744"/>
            <a:ext cx="493776" cy="49377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65760" y="2121408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ค้นหาภาพกิจกรรม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93776" y="2542032"/>
            <a:ext cx="2468880" cy="329184"/>
          </a:xfrm>
          <a:prstGeom prst="rect">
            <a:avLst/>
          </a:prstGeom>
          <a:solidFill>
            <a:srgbClr val="0A1523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Text 12"/>
          <p:cNvSpPr/>
          <p:nvPr/>
        </p:nvSpPr>
        <p:spPr>
          <a:xfrm>
            <a:off x="493776" y="254203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พิมพ์: ภาพ [ชื่องาน]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65760" y="2944368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เช่น  'ภาพ วันวิทยาศาสตร์'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65760" y="3255264"/>
            <a:ext cx="2724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Bot ตอบกลับลิงก์ภาพ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พร้อม Facebook post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85216" y="4343400"/>
            <a:ext cx="2286000" cy="237744"/>
          </a:xfrm>
          <a:prstGeom prst="roundRect">
            <a:avLst>
              <a:gd name="adj" fmla="val 38462"/>
            </a:avLst>
          </a:prstGeom>
          <a:solidFill>
            <a:srgbClr val="048A3B"/>
          </a:solidFill>
          <a:ln w="12700">
            <a:solidFill>
              <a:srgbClr val="048A3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Text 16"/>
          <p:cNvSpPr/>
          <p:nvPr/>
        </p:nvSpPr>
        <p:spPr>
          <a:xfrm>
            <a:off x="585216" y="43434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LINE Bot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3291840" y="868680"/>
            <a:ext cx="2724912" cy="3931920"/>
          </a:xfrm>
          <a:prstGeom prst="rect">
            <a:avLst/>
          </a:prstGeom>
          <a:solidFill>
            <a:srgbClr val="091E2A"/>
          </a:solidFill>
          <a:ln w="12700">
            <a:solidFill>
              <a:srgbClr val="091E2A"/>
            </a:solidFill>
            <a:prstDash val="solid"/>
          </a:ln>
          <a:effectLst>
            <a:outerShdw blurRad="1524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1" name="Shape 18"/>
          <p:cNvSpPr/>
          <p:nvPr/>
        </p:nvSpPr>
        <p:spPr>
          <a:xfrm>
            <a:off x="3291840" y="868680"/>
            <a:ext cx="272491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Shape 19"/>
          <p:cNvSpPr/>
          <p:nvPr/>
        </p:nvSpPr>
        <p:spPr>
          <a:xfrm>
            <a:off x="4288536" y="1261872"/>
            <a:ext cx="731520" cy="7315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1524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408" y="1380744"/>
            <a:ext cx="493776" cy="493776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291840" y="2121408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ค้นหาวิดีโอกิจกรรม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3419856" y="2542032"/>
            <a:ext cx="2468880" cy="329184"/>
          </a:xfrm>
          <a:prstGeom prst="rect">
            <a:avLst/>
          </a:prstGeom>
          <a:solidFill>
            <a:srgbClr val="0A1523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6" name="Text 22"/>
          <p:cNvSpPr/>
          <p:nvPr/>
        </p:nvSpPr>
        <p:spPr>
          <a:xfrm>
            <a:off x="3419856" y="254203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พิมพ์: วิดีโอ [ชื่องาน]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3291840" y="2944368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เช่น  'วิดีโอ พิธีเปิด'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3291840" y="3255264"/>
            <a:ext cx="2724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Bot ตอบกลับ YouTube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หรือ Facebook Video link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3511296" y="4343400"/>
            <a:ext cx="2286000" cy="237744"/>
          </a:xfrm>
          <a:prstGeom prst="roundRect">
            <a:avLst>
              <a:gd name="adj" fmla="val 38462"/>
            </a:avLst>
          </a:prstGeom>
          <a:solidFill>
            <a:srgbClr val="048A3B"/>
          </a:solidFill>
          <a:ln w="12700">
            <a:solidFill>
              <a:srgbClr val="048A3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0" name="Text 26"/>
          <p:cNvSpPr/>
          <p:nvPr/>
        </p:nvSpPr>
        <p:spPr>
          <a:xfrm>
            <a:off x="3511296" y="43434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LINE Bot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6217920" y="868680"/>
            <a:ext cx="2724912" cy="3931920"/>
          </a:xfrm>
          <a:prstGeom prst="rect">
            <a:avLst/>
          </a:prstGeom>
          <a:solidFill>
            <a:srgbClr val="2A1E0A"/>
          </a:solidFill>
          <a:ln w="12700">
            <a:solidFill>
              <a:srgbClr val="2A1E0A"/>
            </a:solidFill>
            <a:prstDash val="solid"/>
          </a:ln>
          <a:effectLst>
            <a:outerShdw blurRad="1524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32" name="Shape 28"/>
          <p:cNvSpPr/>
          <p:nvPr/>
        </p:nvSpPr>
        <p:spPr>
          <a:xfrm>
            <a:off x="6217920" y="868680"/>
            <a:ext cx="2724912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3" name="Shape 29"/>
          <p:cNvSpPr/>
          <p:nvPr/>
        </p:nvSpPr>
        <p:spPr>
          <a:xfrm>
            <a:off x="7214616" y="1261872"/>
            <a:ext cx="731520" cy="7315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3488" y="1380744"/>
            <a:ext cx="493776" cy="493776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217920" y="2121408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ภาพโพสต์อัตโนมัติ</a:t>
            </a:r>
            <a:endParaRPr lang="en-US" sz="1250" dirty="0"/>
          </a:p>
        </p:txBody>
      </p:sp>
      <p:sp>
        <p:nvSpPr>
          <p:cNvPr id="36" name="Shape 31"/>
          <p:cNvSpPr/>
          <p:nvPr/>
        </p:nvSpPr>
        <p:spPr>
          <a:xfrm>
            <a:off x="6345936" y="2542032"/>
            <a:ext cx="2468880" cy="329184"/>
          </a:xfrm>
          <a:prstGeom prst="rect">
            <a:avLst/>
          </a:prstGeom>
          <a:solidFill>
            <a:srgbClr val="0A1523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7" name="Text 32"/>
          <p:cNvSpPr/>
          <p:nvPr/>
        </p:nvSpPr>
        <p:spPr>
          <a:xfrm>
            <a:off x="6345936" y="254203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AI สร้าง Caption</a:t>
            </a:r>
            <a:endParaRPr lang="en-US" sz="1000" dirty="0"/>
          </a:p>
        </p:txBody>
      </p:sp>
      <p:sp>
        <p:nvSpPr>
          <p:cNvPr id="38" name="Text 33"/>
          <p:cNvSpPr/>
          <p:nvPr/>
        </p:nvSpPr>
        <p:spPr>
          <a:xfrm>
            <a:off x="6217920" y="2944368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โพสต์ Facebook อัตโนมัติ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6217920" y="3255264"/>
            <a:ext cx="2724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ทีมช่างภาพส่งงาน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ระบบโพสต์ FB Page ทันที</a:t>
            </a:r>
            <a:endParaRPr lang="en-US" sz="950" dirty="0"/>
          </a:p>
        </p:txBody>
      </p:sp>
      <p:sp>
        <p:nvSpPr>
          <p:cNvPr id="40" name="Shape 35"/>
          <p:cNvSpPr/>
          <p:nvPr/>
        </p:nvSpPr>
        <p:spPr>
          <a:xfrm>
            <a:off x="6437376" y="4343400"/>
            <a:ext cx="2286000" cy="237744"/>
          </a:xfrm>
          <a:prstGeom prst="roundRect">
            <a:avLst>
              <a:gd name="adj" fmla="val 38462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1" name="Text 36"/>
          <p:cNvSpPr/>
          <p:nvPr/>
        </p:nvSpPr>
        <p:spPr>
          <a:xfrm>
            <a:off x="6437376" y="43434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LINE Bot</a:t>
            </a:r>
            <a:endParaRPr lang="en-US" sz="850" dirty="0"/>
          </a:p>
        </p:txBody>
      </p:sp>
      <p:sp>
        <p:nvSpPr>
          <p:cNvPr id="42" name="Shape 37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solidFill>
            <a:srgbClr val="150D24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3" name="Text 38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5CF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💡  ค้นหาได้ทันทีจาก LINE Bot · ภาพงานใหม่จะถูกอัปโหลดโดยทีมช่างภาพของโรงเรียน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91523"/>
          </a:solidFill>
          <a:ln w="12700">
            <a:solidFill>
              <a:srgbClr val="09152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384048" y="914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การแจ้งเตือน — ไม่พลาดทุกความเคลื่อนไหว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84048" y="512064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รับแจ้งเตือนแบบ Real-time ทั้งผ่าน LINE Push และ FCM Push Notification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3A526A"/>
          </a:solidFill>
          <a:ln w="12700">
            <a:solidFill>
              <a:srgbClr val="3A526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8229600" y="48646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A526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8 / 10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868680"/>
            <a:ext cx="4023360" cy="3931920"/>
          </a:xfrm>
          <a:prstGeom prst="rect">
            <a:avLst/>
          </a:prstGeom>
          <a:solidFill>
            <a:srgbClr val="142032"/>
          </a:solidFill>
          <a:ln w="12700">
            <a:solidFill>
              <a:srgbClr val="142032"/>
            </a:solidFill>
            <a:prstDash val="solid"/>
          </a:ln>
          <a:effectLst>
            <a:outerShdw blurRad="1524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365760" y="868680"/>
            <a:ext cx="64008" cy="393192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502920" y="987552"/>
            <a:ext cx="594360" cy="594360"/>
          </a:xfrm>
          <a:prstGeom prst="ellipse">
            <a:avLst/>
          </a:prstGeom>
          <a:solidFill>
            <a:srgbClr val="048A3B"/>
          </a:solidFill>
          <a:ln w="12700">
            <a:solidFill>
              <a:srgbClr val="048A3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18" y="1089050"/>
            <a:ext cx="393192" cy="39319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88720" y="10332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C7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LINE Push Notification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188720" y="138988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รับทุก Notification ใน LINE App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02920" y="1938528"/>
            <a:ext cx="3767328" cy="566928"/>
          </a:xfrm>
          <a:prstGeom prst="rect">
            <a:avLst/>
          </a:prstGeom>
          <a:solidFill>
            <a:srgbClr val="0F2A1C"/>
          </a:solidFill>
          <a:ln w="12700">
            <a:solidFill>
              <a:srgbClr val="0F2A1C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6" name="Shape 13"/>
          <p:cNvSpPr/>
          <p:nvPr/>
        </p:nvSpPr>
        <p:spPr>
          <a:xfrm>
            <a:off x="502920" y="1938528"/>
            <a:ext cx="45720" cy="566928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Text 14"/>
          <p:cNvSpPr/>
          <p:nvPr/>
        </p:nvSpPr>
        <p:spPr>
          <a:xfrm>
            <a:off x="640080" y="1975104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อัปเดตสถานะซ่อม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0080" y="221284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เมื่อช่างรับงาน / ซ่อมเสร็จ / ปิด Ticket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02920" y="2624328"/>
            <a:ext cx="3767328" cy="566928"/>
          </a:xfrm>
          <a:prstGeom prst="rect">
            <a:avLst/>
          </a:prstGeom>
          <a:solidFill>
            <a:srgbClr val="0F2A1C"/>
          </a:solidFill>
          <a:ln w="12700">
            <a:solidFill>
              <a:srgbClr val="0F2A1C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0" name="Shape 17"/>
          <p:cNvSpPr/>
          <p:nvPr/>
        </p:nvSpPr>
        <p:spPr>
          <a:xfrm>
            <a:off x="502920" y="2624328"/>
            <a:ext cx="45720" cy="566928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Text 18"/>
          <p:cNvSpPr/>
          <p:nvPr/>
        </p:nvSpPr>
        <p:spPr>
          <a:xfrm>
            <a:off x="640080" y="2660904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ผลการจองห้อง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40080" y="289864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อนุมัติ หรือ ปฏิเสธ พร้อมเหตุผล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02920" y="3310128"/>
            <a:ext cx="3767328" cy="566928"/>
          </a:xfrm>
          <a:prstGeom prst="rect">
            <a:avLst/>
          </a:prstGeom>
          <a:solidFill>
            <a:srgbClr val="0F2A1C"/>
          </a:solidFill>
          <a:ln w="12700">
            <a:solidFill>
              <a:srgbClr val="0F2A1C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4" name="Shape 21"/>
          <p:cNvSpPr/>
          <p:nvPr/>
        </p:nvSpPr>
        <p:spPr>
          <a:xfrm>
            <a:off x="502920" y="3310128"/>
            <a:ext cx="45720" cy="566928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5" name="Text 22"/>
          <p:cNvSpPr/>
          <p:nvPr/>
        </p:nvSpPr>
        <p:spPr>
          <a:xfrm>
            <a:off x="640080" y="3346704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งานถ่ายภาพ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40080" y="358444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เมื่อถูกมอบหมายหรือผลงานพร้อมดู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02920" y="3995928"/>
            <a:ext cx="3767328" cy="566928"/>
          </a:xfrm>
          <a:prstGeom prst="rect">
            <a:avLst/>
          </a:prstGeom>
          <a:solidFill>
            <a:srgbClr val="0F2A1C"/>
          </a:solidFill>
          <a:ln w="12700">
            <a:solidFill>
              <a:srgbClr val="0F2A1C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8" name="Shape 25"/>
          <p:cNvSpPr/>
          <p:nvPr/>
        </p:nvSpPr>
        <p:spPr>
          <a:xfrm>
            <a:off x="502920" y="3995928"/>
            <a:ext cx="45720" cy="566928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9" name="Text 26"/>
          <p:cNvSpPr/>
          <p:nvPr/>
        </p:nvSpPr>
        <p:spPr>
          <a:xfrm>
            <a:off x="640080" y="4032504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แจ้งเตือนสถานะซ่อมอาคาร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40080" y="427024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ทุกการเปลี่ยนแปลงสถานะ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754880" y="868680"/>
            <a:ext cx="4023360" cy="3931920"/>
          </a:xfrm>
          <a:prstGeom prst="rect">
            <a:avLst/>
          </a:prstGeom>
          <a:solidFill>
            <a:srgbClr val="142032"/>
          </a:solidFill>
          <a:ln w="12700">
            <a:solidFill>
              <a:srgbClr val="142032"/>
            </a:solidFill>
            <a:prstDash val="solid"/>
          </a:ln>
          <a:effectLst>
            <a:outerShdw blurRad="1524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32" name="Shape 29"/>
          <p:cNvSpPr/>
          <p:nvPr/>
        </p:nvSpPr>
        <p:spPr>
          <a:xfrm>
            <a:off x="4754880" y="868680"/>
            <a:ext cx="64008" cy="3931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3" name="Shape 30"/>
          <p:cNvSpPr/>
          <p:nvPr/>
        </p:nvSpPr>
        <p:spPr>
          <a:xfrm>
            <a:off x="4892040" y="987552"/>
            <a:ext cx="594360" cy="594360"/>
          </a:xfrm>
          <a:prstGeom prst="ellipse">
            <a:avLst/>
          </a:prstGeom>
          <a:solidFill>
            <a:srgbClr val="0089A6"/>
          </a:solidFill>
          <a:ln w="12700">
            <a:solidFill>
              <a:srgbClr val="0089A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3538" y="1089050"/>
            <a:ext cx="393192" cy="393192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577840" y="10332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4D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FCM Push Notification</a:t>
            </a:r>
            <a:endParaRPr lang="en-US" sz="1250" dirty="0"/>
          </a:p>
        </p:txBody>
      </p:sp>
      <p:sp>
        <p:nvSpPr>
          <p:cNvPr id="36" name="Text 32"/>
          <p:cNvSpPr/>
          <p:nvPr/>
        </p:nvSpPr>
        <p:spPr>
          <a:xfrm>
            <a:off x="5577840" y="138988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Browser / PWA App · ต้องกด 'Allow' ครั้งแรก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4892040" y="1938528"/>
            <a:ext cx="3767328" cy="566928"/>
          </a:xfrm>
          <a:prstGeom prst="rect">
            <a:avLst/>
          </a:prstGeom>
          <a:solidFill>
            <a:srgbClr val="091E2A"/>
          </a:solidFill>
          <a:ln w="12700">
            <a:solidFill>
              <a:srgbClr val="091E2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38" name="Shape 34"/>
          <p:cNvSpPr/>
          <p:nvPr/>
        </p:nvSpPr>
        <p:spPr>
          <a:xfrm>
            <a:off x="4892040" y="1938528"/>
            <a:ext cx="45720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9" name="Text 35"/>
          <p:cNvSpPr/>
          <p:nvPr/>
        </p:nvSpPr>
        <p:spPr>
          <a:xfrm>
            <a:off x="5029200" y="1975104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แจ้งเตือนในเบราว์เซอร์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5029200" y="221284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Chrome, Firefox, Edge บน PC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4892040" y="2624328"/>
            <a:ext cx="3767328" cy="566928"/>
          </a:xfrm>
          <a:prstGeom prst="rect">
            <a:avLst/>
          </a:prstGeom>
          <a:solidFill>
            <a:srgbClr val="091E2A"/>
          </a:solidFill>
          <a:ln w="12700">
            <a:solidFill>
              <a:srgbClr val="091E2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42" name="Shape 38"/>
          <p:cNvSpPr/>
          <p:nvPr/>
        </p:nvSpPr>
        <p:spPr>
          <a:xfrm>
            <a:off x="4892040" y="2624328"/>
            <a:ext cx="45720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3" name="Text 39"/>
          <p:cNvSpPr/>
          <p:nvPr/>
        </p:nvSpPr>
        <p:spPr>
          <a:xfrm>
            <a:off x="5029200" y="2660904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ทำงานแม้ปิด Tab แล้ว</a:t>
            </a:r>
            <a:endParaRPr lang="en-US" sz="1100" dirty="0"/>
          </a:p>
        </p:txBody>
      </p:sp>
      <p:sp>
        <p:nvSpPr>
          <p:cNvPr id="44" name="Text 40"/>
          <p:cNvSpPr/>
          <p:nvPr/>
        </p:nvSpPr>
        <p:spPr>
          <a:xfrm>
            <a:off x="5029200" y="289864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หาก Install PWA บนมือถือ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4892040" y="3310128"/>
            <a:ext cx="3767328" cy="566928"/>
          </a:xfrm>
          <a:prstGeom prst="rect">
            <a:avLst/>
          </a:prstGeom>
          <a:solidFill>
            <a:srgbClr val="091E2A"/>
          </a:solidFill>
          <a:ln w="12700">
            <a:solidFill>
              <a:srgbClr val="091E2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46" name="Shape 42"/>
          <p:cNvSpPr/>
          <p:nvPr/>
        </p:nvSpPr>
        <p:spPr>
          <a:xfrm>
            <a:off x="4892040" y="3310128"/>
            <a:ext cx="45720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7" name="Text 43"/>
          <p:cNvSpPr/>
          <p:nvPr/>
        </p:nvSpPr>
        <p:spPr>
          <a:xfrm>
            <a:off x="5029200" y="3346704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ประเภทเดียวกับ LINE Push</a:t>
            </a:r>
            <a:endParaRPr lang="en-US" sz="1100" dirty="0"/>
          </a:p>
        </p:txBody>
      </p:sp>
      <p:sp>
        <p:nvSpPr>
          <p:cNvPr id="48" name="Text 44"/>
          <p:cNvSpPr/>
          <p:nvPr/>
        </p:nvSpPr>
        <p:spPr>
          <a:xfrm>
            <a:off x="5029200" y="358444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สถานะซ่อม · ผลจอง · งานภาพ</a:t>
            </a:r>
            <a:endParaRPr lang="en-US" sz="900" dirty="0"/>
          </a:p>
        </p:txBody>
      </p:sp>
      <p:sp>
        <p:nvSpPr>
          <p:cNvPr id="49" name="Shape 45"/>
          <p:cNvSpPr/>
          <p:nvPr/>
        </p:nvSpPr>
        <p:spPr>
          <a:xfrm>
            <a:off x="4892040" y="3995928"/>
            <a:ext cx="3767328" cy="566928"/>
          </a:xfrm>
          <a:prstGeom prst="rect">
            <a:avLst/>
          </a:prstGeom>
          <a:solidFill>
            <a:srgbClr val="091E2A"/>
          </a:solidFill>
          <a:ln w="12700">
            <a:solidFill>
              <a:srgbClr val="091E2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50" name="Shape 46"/>
          <p:cNvSpPr/>
          <p:nvPr/>
        </p:nvSpPr>
        <p:spPr>
          <a:xfrm>
            <a:off x="4892040" y="3995928"/>
            <a:ext cx="45720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1" name="Text 47"/>
          <p:cNvSpPr/>
          <p:nvPr/>
        </p:nvSpPr>
        <p:spPr>
          <a:xfrm>
            <a:off x="5029200" y="4032504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เปิดแจ้งเตือน → ใช้งานครบ</a:t>
            </a:r>
            <a:endParaRPr lang="en-US" sz="1100" dirty="0"/>
          </a:p>
        </p:txBody>
      </p:sp>
      <p:sp>
        <p:nvSpPr>
          <p:cNvPr id="52" name="Text 48"/>
          <p:cNvSpPr/>
          <p:nvPr/>
        </p:nvSpPr>
        <p:spPr>
          <a:xfrm>
            <a:off x="5029200" y="427024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ทั้ง 2 ช่องทางเพื่อไม่พลาด</a:t>
            </a:r>
            <a:endParaRPr lang="en-US" sz="900" dirty="0"/>
          </a:p>
        </p:txBody>
      </p:sp>
      <p:sp>
        <p:nvSpPr>
          <p:cNvPr id="53" name="Shape 49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solidFill>
            <a:srgbClr val="0A1F1A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4" name="Text 50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✅  แนะนำ: เปิดทั้ง LINE Push + FCM เพื่อไม่พลาดทุกการแจ้งเตือน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91523"/>
          </a:solidFill>
          <a:ln w="12700">
            <a:solidFill>
              <a:srgbClr val="09152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384048" y="914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ติดตั้ง PWA App บนมือถือ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84048" y="512064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ใช้งานเหมือน App จริง · ไม่ต้องไปที่ App Store · รับการแจ้งเตือน FCM ได้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3A526A"/>
          </a:solidFill>
          <a:ln w="12700">
            <a:solidFill>
              <a:srgbClr val="3A526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8229600" y="48646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A526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9 / 10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34340" y="868680"/>
            <a:ext cx="1481328" cy="3931920"/>
          </a:xfrm>
          <a:prstGeom prst="rect">
            <a:avLst/>
          </a:prstGeom>
          <a:solidFill>
            <a:srgbClr val="142032"/>
          </a:solidFill>
          <a:ln w="12700">
            <a:solidFill>
              <a:srgbClr val="142032"/>
            </a:solidFill>
            <a:prstDash val="solid"/>
          </a:ln>
          <a:effectLst>
            <a:outerShdw blurRad="1524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434340" y="868680"/>
            <a:ext cx="1481328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900684" y="1024128"/>
            <a:ext cx="54864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900684" y="1024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45820" y="1737360"/>
            <a:ext cx="658368" cy="658368"/>
          </a:xfrm>
          <a:prstGeom prst="ellipse">
            <a:avLst/>
          </a:prstGeom>
          <a:solidFill>
            <a:srgbClr val="1A2E44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" y="1847088"/>
            <a:ext cx="438912" cy="43891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34340" y="2542032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เปิด Browser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34340" y="2907792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เปิด Chrome บน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Android หรือ Safari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บน iPhone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946404" y="4498848"/>
            <a:ext cx="457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Shape 15"/>
          <p:cNvSpPr/>
          <p:nvPr/>
        </p:nvSpPr>
        <p:spPr>
          <a:xfrm>
            <a:off x="544068" y="3767328"/>
            <a:ext cx="1261872" cy="640080"/>
          </a:xfrm>
          <a:prstGeom prst="rect">
            <a:avLst/>
          </a:prstGeom>
          <a:solidFill>
            <a:srgbClr val="0A1523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Text 16"/>
          <p:cNvSpPr/>
          <p:nvPr/>
        </p:nvSpPr>
        <p:spPr>
          <a:xfrm>
            <a:off x="544068" y="3767328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B4D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Chrome / Safari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959102" y="2057400"/>
            <a:ext cx="91440" cy="0"/>
          </a:xfrm>
          <a:prstGeom prst="line">
            <a:avLst/>
          </a:prstGeom>
          <a:noFill/>
          <a:ln w="19050">
            <a:solidFill>
              <a:srgbClr val="3A526A"/>
            </a:solidFill>
            <a:prstDash val="dash"/>
          </a:ln>
        </p:spPr>
        <p:txBody>
          <a:bodyPr/>
          <a:lstStyle/>
          <a:p>
            <a:endParaRPr lang="en-TH"/>
          </a:p>
        </p:txBody>
      </p:sp>
      <p:sp>
        <p:nvSpPr>
          <p:cNvPr id="21" name="Shape 18"/>
          <p:cNvSpPr/>
          <p:nvPr/>
        </p:nvSpPr>
        <p:spPr>
          <a:xfrm>
            <a:off x="2075688" y="868680"/>
            <a:ext cx="1481328" cy="3931920"/>
          </a:xfrm>
          <a:prstGeom prst="rect">
            <a:avLst/>
          </a:prstGeom>
          <a:solidFill>
            <a:srgbClr val="142032"/>
          </a:solidFill>
          <a:ln w="12700">
            <a:solidFill>
              <a:srgbClr val="142032"/>
            </a:solidFill>
            <a:prstDash val="solid"/>
          </a:ln>
          <a:effectLst>
            <a:outerShdw blurRad="1524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2" name="Shape 19"/>
          <p:cNvSpPr/>
          <p:nvPr/>
        </p:nvSpPr>
        <p:spPr>
          <a:xfrm>
            <a:off x="2075688" y="868680"/>
            <a:ext cx="1481328" cy="54864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3" name="Shape 20"/>
          <p:cNvSpPr/>
          <p:nvPr/>
        </p:nvSpPr>
        <p:spPr>
          <a:xfrm>
            <a:off x="2542032" y="1024128"/>
            <a:ext cx="548640" cy="548640"/>
          </a:xfrm>
          <a:prstGeom prst="ellipse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4" name="Text 21"/>
          <p:cNvSpPr/>
          <p:nvPr/>
        </p:nvSpPr>
        <p:spPr>
          <a:xfrm>
            <a:off x="2542032" y="1024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2487168" y="1737360"/>
            <a:ext cx="658368" cy="658368"/>
          </a:xfrm>
          <a:prstGeom prst="ellipse">
            <a:avLst/>
          </a:prstGeom>
          <a:solidFill>
            <a:srgbClr val="1A2E44"/>
          </a:solidFill>
          <a:ln w="12700">
            <a:solidFill>
              <a:srgbClr val="06C75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6896" y="1847088"/>
            <a:ext cx="438912" cy="43891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2075688" y="2542032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กด Share / Menu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2075688" y="2907792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Android: กด ⋮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iPhone: กด Share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(กล่องมีลูกศร)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2587752" y="4498848"/>
            <a:ext cx="457200" cy="36576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0" name="Shape 26"/>
          <p:cNvSpPr/>
          <p:nvPr/>
        </p:nvSpPr>
        <p:spPr>
          <a:xfrm>
            <a:off x="2185416" y="3767328"/>
            <a:ext cx="1261872" cy="640080"/>
          </a:xfrm>
          <a:prstGeom prst="rect">
            <a:avLst/>
          </a:prstGeom>
          <a:solidFill>
            <a:srgbClr val="0A1523"/>
          </a:solidFill>
          <a:ln w="12700">
            <a:solidFill>
              <a:srgbClr val="06C75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1" name="Text 27"/>
          <p:cNvSpPr/>
          <p:nvPr/>
        </p:nvSpPr>
        <p:spPr>
          <a:xfrm>
            <a:off x="2185416" y="3767328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6C7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Android ⋮  iOS ↑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3600450" y="2057400"/>
            <a:ext cx="91440" cy="0"/>
          </a:xfrm>
          <a:prstGeom prst="line">
            <a:avLst/>
          </a:prstGeom>
          <a:noFill/>
          <a:ln w="19050">
            <a:solidFill>
              <a:srgbClr val="3A526A"/>
            </a:solidFill>
            <a:prstDash val="dash"/>
          </a:ln>
        </p:spPr>
        <p:txBody>
          <a:bodyPr/>
          <a:lstStyle/>
          <a:p>
            <a:endParaRPr lang="en-TH"/>
          </a:p>
        </p:txBody>
      </p:sp>
      <p:sp>
        <p:nvSpPr>
          <p:cNvPr id="33" name="Shape 29"/>
          <p:cNvSpPr/>
          <p:nvPr/>
        </p:nvSpPr>
        <p:spPr>
          <a:xfrm>
            <a:off x="3717036" y="868680"/>
            <a:ext cx="1481328" cy="3931920"/>
          </a:xfrm>
          <a:prstGeom prst="rect">
            <a:avLst/>
          </a:prstGeom>
          <a:solidFill>
            <a:srgbClr val="142032"/>
          </a:solidFill>
          <a:ln w="12700">
            <a:solidFill>
              <a:srgbClr val="142032"/>
            </a:solidFill>
            <a:prstDash val="solid"/>
          </a:ln>
          <a:effectLst>
            <a:outerShdw blurRad="1524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34" name="Shape 30"/>
          <p:cNvSpPr/>
          <p:nvPr/>
        </p:nvSpPr>
        <p:spPr>
          <a:xfrm>
            <a:off x="3717036" y="868680"/>
            <a:ext cx="1481328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5" name="Shape 31"/>
          <p:cNvSpPr/>
          <p:nvPr/>
        </p:nvSpPr>
        <p:spPr>
          <a:xfrm>
            <a:off x="4183380" y="1024128"/>
            <a:ext cx="548640" cy="5486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6" name="Text 32"/>
          <p:cNvSpPr/>
          <p:nvPr/>
        </p:nvSpPr>
        <p:spPr>
          <a:xfrm>
            <a:off x="4183380" y="1024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2000" dirty="0"/>
          </a:p>
        </p:txBody>
      </p:sp>
      <p:sp>
        <p:nvSpPr>
          <p:cNvPr id="37" name="Shape 33"/>
          <p:cNvSpPr/>
          <p:nvPr/>
        </p:nvSpPr>
        <p:spPr>
          <a:xfrm>
            <a:off x="4128516" y="1737360"/>
            <a:ext cx="658368" cy="658368"/>
          </a:xfrm>
          <a:prstGeom prst="ellipse">
            <a:avLst/>
          </a:prstGeom>
          <a:solidFill>
            <a:srgbClr val="1A2E44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8244" y="1847088"/>
            <a:ext cx="438912" cy="438912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3717036" y="2542032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Add to Home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3717036" y="2907792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'Add to Home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Screen' หรือ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'ติดตั้งแอป'</a:t>
            </a:r>
            <a:endParaRPr lang="en-US" sz="900" dirty="0"/>
          </a:p>
        </p:txBody>
      </p:sp>
      <p:sp>
        <p:nvSpPr>
          <p:cNvPr id="41" name="Shape 36"/>
          <p:cNvSpPr/>
          <p:nvPr/>
        </p:nvSpPr>
        <p:spPr>
          <a:xfrm>
            <a:off x="4229100" y="4498848"/>
            <a:ext cx="45720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2" name="Shape 37"/>
          <p:cNvSpPr/>
          <p:nvPr/>
        </p:nvSpPr>
        <p:spPr>
          <a:xfrm>
            <a:off x="3826764" y="3767328"/>
            <a:ext cx="1261872" cy="640080"/>
          </a:xfrm>
          <a:prstGeom prst="rect">
            <a:avLst/>
          </a:prstGeom>
          <a:solidFill>
            <a:srgbClr val="0A1523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3" name="Text 38"/>
          <p:cNvSpPr/>
          <p:nvPr/>
        </p:nvSpPr>
        <p:spPr>
          <a:xfrm>
            <a:off x="3826764" y="3767328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5CF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เลือก 'Add to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B5CF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Home Screen'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5241798" y="2057400"/>
            <a:ext cx="91440" cy="0"/>
          </a:xfrm>
          <a:prstGeom prst="line">
            <a:avLst/>
          </a:prstGeom>
          <a:noFill/>
          <a:ln w="19050">
            <a:solidFill>
              <a:srgbClr val="3A526A"/>
            </a:solidFill>
            <a:prstDash val="dash"/>
          </a:ln>
        </p:spPr>
        <p:txBody>
          <a:bodyPr/>
          <a:lstStyle/>
          <a:p>
            <a:endParaRPr lang="en-TH"/>
          </a:p>
        </p:txBody>
      </p:sp>
      <p:sp>
        <p:nvSpPr>
          <p:cNvPr id="45" name="Shape 40"/>
          <p:cNvSpPr/>
          <p:nvPr/>
        </p:nvSpPr>
        <p:spPr>
          <a:xfrm>
            <a:off x="5358384" y="868680"/>
            <a:ext cx="1481328" cy="3931920"/>
          </a:xfrm>
          <a:prstGeom prst="rect">
            <a:avLst/>
          </a:prstGeom>
          <a:solidFill>
            <a:srgbClr val="142032"/>
          </a:solidFill>
          <a:ln w="12700">
            <a:solidFill>
              <a:srgbClr val="142032"/>
            </a:solidFill>
            <a:prstDash val="solid"/>
          </a:ln>
          <a:effectLst>
            <a:outerShdw blurRad="1524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46" name="Shape 41"/>
          <p:cNvSpPr/>
          <p:nvPr/>
        </p:nvSpPr>
        <p:spPr>
          <a:xfrm>
            <a:off x="5358384" y="868680"/>
            <a:ext cx="1481328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7" name="Shape 42"/>
          <p:cNvSpPr/>
          <p:nvPr/>
        </p:nvSpPr>
        <p:spPr>
          <a:xfrm>
            <a:off x="5824728" y="1024128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8" name="Text 43"/>
          <p:cNvSpPr/>
          <p:nvPr/>
        </p:nvSpPr>
        <p:spPr>
          <a:xfrm>
            <a:off x="5824728" y="1024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</a:t>
            </a:r>
            <a:endParaRPr lang="en-US" sz="2000" dirty="0"/>
          </a:p>
        </p:txBody>
      </p:sp>
      <p:sp>
        <p:nvSpPr>
          <p:cNvPr id="49" name="Shape 44"/>
          <p:cNvSpPr/>
          <p:nvPr/>
        </p:nvSpPr>
        <p:spPr>
          <a:xfrm>
            <a:off x="5769864" y="1737360"/>
            <a:ext cx="658368" cy="658368"/>
          </a:xfrm>
          <a:prstGeom prst="ellipse">
            <a:avLst/>
          </a:prstGeom>
          <a:solidFill>
            <a:srgbClr val="1A2E44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5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9592" y="1847088"/>
            <a:ext cx="438912" cy="438912"/>
          </a:xfrm>
          <a:prstGeom prst="rect">
            <a:avLst/>
          </a:prstGeom>
        </p:spPr>
      </p:pic>
      <p:sp>
        <p:nvSpPr>
          <p:cNvPr id="51" name="Text 45"/>
          <p:cNvSpPr/>
          <p:nvPr/>
        </p:nvSpPr>
        <p:spPr>
          <a:xfrm>
            <a:off x="5358384" y="2542032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กด Install</a:t>
            </a:r>
            <a:endParaRPr lang="en-US" sz="1100" dirty="0"/>
          </a:p>
        </p:txBody>
      </p:sp>
      <p:sp>
        <p:nvSpPr>
          <p:cNvPr id="52" name="Text 46"/>
          <p:cNvSpPr/>
          <p:nvPr/>
        </p:nvSpPr>
        <p:spPr>
          <a:xfrm>
            <a:off x="5358384" y="2907792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กด 'Install' หรือ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'เพิ่ม' ยืนยัน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การติดตั้ง</a:t>
            </a:r>
            <a:endParaRPr lang="en-US" sz="900" dirty="0"/>
          </a:p>
        </p:txBody>
      </p:sp>
      <p:sp>
        <p:nvSpPr>
          <p:cNvPr id="53" name="Shape 47"/>
          <p:cNvSpPr/>
          <p:nvPr/>
        </p:nvSpPr>
        <p:spPr>
          <a:xfrm>
            <a:off x="5870448" y="4498848"/>
            <a:ext cx="4572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4" name="Shape 48"/>
          <p:cNvSpPr/>
          <p:nvPr/>
        </p:nvSpPr>
        <p:spPr>
          <a:xfrm>
            <a:off x="5468112" y="3767328"/>
            <a:ext cx="1261872" cy="640080"/>
          </a:xfrm>
          <a:prstGeom prst="rect">
            <a:avLst/>
          </a:prstGeom>
          <a:solidFill>
            <a:srgbClr val="0A1523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5" name="Text 49"/>
          <p:cNvSpPr/>
          <p:nvPr/>
        </p:nvSpPr>
        <p:spPr>
          <a:xfrm>
            <a:off x="5468112" y="3767328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59E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'Install'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59E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หรือ 'เพิ่ม'</a:t>
            </a:r>
            <a:endParaRPr lang="en-US" sz="850" dirty="0"/>
          </a:p>
        </p:txBody>
      </p:sp>
      <p:sp>
        <p:nvSpPr>
          <p:cNvPr id="56" name="Shape 50"/>
          <p:cNvSpPr/>
          <p:nvPr/>
        </p:nvSpPr>
        <p:spPr>
          <a:xfrm>
            <a:off x="6883146" y="2057400"/>
            <a:ext cx="91440" cy="0"/>
          </a:xfrm>
          <a:prstGeom prst="line">
            <a:avLst/>
          </a:prstGeom>
          <a:noFill/>
          <a:ln w="19050">
            <a:solidFill>
              <a:srgbClr val="3A526A"/>
            </a:solidFill>
            <a:prstDash val="dash"/>
          </a:ln>
        </p:spPr>
        <p:txBody>
          <a:bodyPr/>
          <a:lstStyle/>
          <a:p>
            <a:endParaRPr lang="en-TH"/>
          </a:p>
        </p:txBody>
      </p:sp>
      <p:sp>
        <p:nvSpPr>
          <p:cNvPr id="57" name="Shape 51"/>
          <p:cNvSpPr/>
          <p:nvPr/>
        </p:nvSpPr>
        <p:spPr>
          <a:xfrm>
            <a:off x="6999732" y="868680"/>
            <a:ext cx="1481328" cy="3931920"/>
          </a:xfrm>
          <a:prstGeom prst="rect">
            <a:avLst/>
          </a:prstGeom>
          <a:solidFill>
            <a:srgbClr val="142032"/>
          </a:solidFill>
          <a:ln w="12700">
            <a:solidFill>
              <a:srgbClr val="142032"/>
            </a:solidFill>
            <a:prstDash val="solid"/>
          </a:ln>
          <a:effectLst>
            <a:outerShdw blurRad="1524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58" name="Shape 52"/>
          <p:cNvSpPr/>
          <p:nvPr/>
        </p:nvSpPr>
        <p:spPr>
          <a:xfrm>
            <a:off x="6999732" y="868680"/>
            <a:ext cx="1481328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9" name="Shape 53"/>
          <p:cNvSpPr/>
          <p:nvPr/>
        </p:nvSpPr>
        <p:spPr>
          <a:xfrm>
            <a:off x="7466076" y="1024128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0" name="Text 54"/>
          <p:cNvSpPr/>
          <p:nvPr/>
        </p:nvSpPr>
        <p:spPr>
          <a:xfrm>
            <a:off x="7466076" y="1024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5</a:t>
            </a:r>
            <a:endParaRPr lang="en-US" sz="2000" dirty="0"/>
          </a:p>
        </p:txBody>
      </p:sp>
      <p:sp>
        <p:nvSpPr>
          <p:cNvPr id="61" name="Shape 55"/>
          <p:cNvSpPr/>
          <p:nvPr/>
        </p:nvSpPr>
        <p:spPr>
          <a:xfrm>
            <a:off x="7411212" y="1737360"/>
            <a:ext cx="658368" cy="658368"/>
          </a:xfrm>
          <a:prstGeom prst="ellipse">
            <a:avLst/>
          </a:prstGeom>
          <a:solidFill>
            <a:srgbClr val="1A2E4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6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0940" y="1847088"/>
            <a:ext cx="438912" cy="438912"/>
          </a:xfrm>
          <a:prstGeom prst="rect">
            <a:avLst/>
          </a:prstGeom>
        </p:spPr>
      </p:pic>
      <p:sp>
        <p:nvSpPr>
          <p:cNvPr id="63" name="Text 56"/>
          <p:cNvSpPr/>
          <p:nvPr/>
        </p:nvSpPr>
        <p:spPr>
          <a:xfrm>
            <a:off x="6999732" y="2542032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Allow แจ้งเตือน</a:t>
            </a:r>
            <a:endParaRPr lang="en-US" sz="1100" dirty="0"/>
          </a:p>
        </p:txBody>
      </p:sp>
      <p:sp>
        <p:nvSpPr>
          <p:cNvPr id="64" name="Text 57"/>
          <p:cNvSpPr/>
          <p:nvPr/>
        </p:nvSpPr>
        <p:spPr>
          <a:xfrm>
            <a:off x="6999732" y="2907792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กด 'Allow' เมื่อ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ระบบถาม การแจ้ง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เตือนจะทำงาน</a:t>
            </a:r>
            <a:endParaRPr lang="en-US" sz="900" dirty="0"/>
          </a:p>
        </p:txBody>
      </p:sp>
      <p:sp>
        <p:nvSpPr>
          <p:cNvPr id="65" name="Shape 58"/>
          <p:cNvSpPr/>
          <p:nvPr/>
        </p:nvSpPr>
        <p:spPr>
          <a:xfrm>
            <a:off x="7511796" y="4498848"/>
            <a:ext cx="4572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6" name="Shape 59"/>
          <p:cNvSpPr/>
          <p:nvPr/>
        </p:nvSpPr>
        <p:spPr>
          <a:xfrm>
            <a:off x="7109460" y="3767328"/>
            <a:ext cx="1261872" cy="640080"/>
          </a:xfrm>
          <a:prstGeom prst="rect">
            <a:avLst/>
          </a:prstGeom>
          <a:solidFill>
            <a:srgbClr val="0A1523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7" name="Text 60"/>
          <p:cNvSpPr/>
          <p:nvPr/>
        </p:nvSpPr>
        <p:spPr>
          <a:xfrm>
            <a:off x="7109460" y="3767328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0B98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กด 'Allow'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0B98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ยืนยันแจ้งเตือน</a:t>
            </a:r>
            <a:endParaRPr lang="en-US" sz="850" dirty="0"/>
          </a:p>
        </p:txBody>
      </p:sp>
      <p:sp>
        <p:nvSpPr>
          <p:cNvPr id="68" name="Shape 61"/>
          <p:cNvSpPr/>
          <p:nvPr/>
        </p:nvSpPr>
        <p:spPr>
          <a:xfrm>
            <a:off x="365760" y="4773168"/>
            <a:ext cx="1920240" cy="256032"/>
          </a:xfrm>
          <a:prstGeom prst="roundRect">
            <a:avLst>
              <a:gd name="adj" fmla="val 35714"/>
            </a:avLst>
          </a:prstGeom>
          <a:solidFill>
            <a:srgbClr val="048A3B"/>
          </a:solidFill>
          <a:ln w="12700">
            <a:solidFill>
              <a:srgbClr val="048A3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9" name="Text 62"/>
          <p:cNvSpPr/>
          <p:nvPr/>
        </p:nvSpPr>
        <p:spPr>
          <a:xfrm>
            <a:off x="365760" y="47731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Android — Chrome</a:t>
            </a:r>
            <a:endParaRPr lang="en-US" sz="900" dirty="0"/>
          </a:p>
        </p:txBody>
      </p:sp>
      <p:sp>
        <p:nvSpPr>
          <p:cNvPr id="70" name="Shape 63"/>
          <p:cNvSpPr/>
          <p:nvPr/>
        </p:nvSpPr>
        <p:spPr>
          <a:xfrm>
            <a:off x="2423160" y="4773168"/>
            <a:ext cx="1920240" cy="256032"/>
          </a:xfrm>
          <a:prstGeom prst="roundRect">
            <a:avLst>
              <a:gd name="adj" fmla="val 35714"/>
            </a:avLst>
          </a:prstGeom>
          <a:solidFill>
            <a:srgbClr val="0089A6"/>
          </a:solidFill>
          <a:ln w="12700">
            <a:solidFill>
              <a:srgbClr val="0089A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1" name="Text 64"/>
          <p:cNvSpPr/>
          <p:nvPr/>
        </p:nvSpPr>
        <p:spPr>
          <a:xfrm>
            <a:off x="2423160" y="47731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iPhone — Safari</a:t>
            </a:r>
            <a:endParaRPr lang="en-US" sz="900" dirty="0"/>
          </a:p>
        </p:txBody>
      </p:sp>
      <p:sp>
        <p:nvSpPr>
          <p:cNvPr id="72" name="Shape 65"/>
          <p:cNvSpPr/>
          <p:nvPr/>
        </p:nvSpPr>
        <p:spPr>
          <a:xfrm>
            <a:off x="4663440" y="4736592"/>
            <a:ext cx="4114800" cy="329184"/>
          </a:xfrm>
          <a:prstGeom prst="rect">
            <a:avLst/>
          </a:prstGeom>
          <a:solidFill>
            <a:srgbClr val="091E2A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3" name="Text 66"/>
          <p:cNvSpPr/>
          <p:nvPr/>
        </p:nvSpPr>
        <p:spPr>
          <a:xfrm>
            <a:off x="4663440" y="473659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B4D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💡  ติดตั้งแล้วรับ FCM แจ้งเตือนได้แม้ปิดหน้าจอ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6400800" cy="6400800"/>
          </a:xfrm>
          <a:prstGeom prst="ellipse">
            <a:avLst/>
          </a:prstGeom>
          <a:solidFill>
            <a:srgbClr val="06C755">
              <a:alpha val="8000"/>
            </a:srgbClr>
          </a:solidFill>
          <a:ln w="12700">
            <a:solidFill>
              <a:srgbClr val="06C755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6858000" y="914400"/>
            <a:ext cx="4114800" cy="4114800"/>
          </a:xfrm>
          <a:prstGeom prst="ellipse">
            <a:avLst/>
          </a:prstGeom>
          <a:solidFill>
            <a:srgbClr val="00B4D8">
              <a:alpha val="11000"/>
            </a:srgbClr>
          </a:solidFill>
          <a:ln w="12700">
            <a:solidFill>
              <a:srgbClr val="00B4D8">
                <a:alpha val="11000"/>
              </a:srgbClr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91523"/>
          </a:solidFill>
          <a:ln w="12700">
            <a:solidFill>
              <a:srgbClr val="09152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384048" y="914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เริ่มใช้งานได้เลย!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84048" y="51206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 ขั้นตอนง่ายๆ สู่ CRMS6-IT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365760" y="914400"/>
            <a:ext cx="2724912" cy="3291840"/>
          </a:xfrm>
          <a:prstGeom prst="rect">
            <a:avLst/>
          </a:prstGeom>
          <a:solidFill>
            <a:srgbClr val="142032"/>
          </a:solidFill>
          <a:ln w="12700">
            <a:solidFill>
              <a:srgbClr val="142032"/>
            </a:solidFill>
            <a:prstDash val="solid"/>
          </a:ln>
          <a:effectLst>
            <a:outerShdw blurRad="1524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365760" y="914400"/>
            <a:ext cx="2724912" cy="54864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365760" y="987552"/>
            <a:ext cx="2724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6C7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01</a:t>
            </a:r>
            <a:endParaRPr lang="en-US" sz="4400" dirty="0"/>
          </a:p>
        </p:txBody>
      </p:sp>
      <p:sp>
        <p:nvSpPr>
          <p:cNvPr id="12" name="Shape 10"/>
          <p:cNvSpPr/>
          <p:nvPr/>
        </p:nvSpPr>
        <p:spPr>
          <a:xfrm>
            <a:off x="1362456" y="1792224"/>
            <a:ext cx="731520" cy="731520"/>
          </a:xfrm>
          <a:prstGeom prst="ellipse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  <a:effectLst>
            <a:outerShdw blurRad="1524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328" y="1911096"/>
            <a:ext cx="493776" cy="49377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65760" y="2633472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เพิ่มเพื่อน LINE Bot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65760" y="3017520"/>
            <a:ext cx="2724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ค้นหา LINE Bot ของระบบ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กด 'เพิ่มเพื่อน'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12064" y="3566160"/>
            <a:ext cx="2432304" cy="274320"/>
          </a:xfrm>
          <a:prstGeom prst="rect">
            <a:avLst/>
          </a:prstGeom>
          <a:solidFill>
            <a:srgbClr val="091523"/>
          </a:solidFill>
          <a:ln w="12700">
            <a:solidFill>
              <a:srgbClr val="06C75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Text 14"/>
          <p:cNvSpPr/>
          <p:nvPr/>
        </p:nvSpPr>
        <p:spPr>
          <a:xfrm>
            <a:off x="512064" y="356616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C7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LINE Bot ID: @crms6it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291840" y="914400"/>
            <a:ext cx="2724912" cy="3291840"/>
          </a:xfrm>
          <a:prstGeom prst="rect">
            <a:avLst/>
          </a:prstGeom>
          <a:solidFill>
            <a:srgbClr val="142032"/>
          </a:solidFill>
          <a:ln w="12700">
            <a:solidFill>
              <a:srgbClr val="142032"/>
            </a:solidFill>
            <a:prstDash val="solid"/>
          </a:ln>
          <a:effectLst>
            <a:outerShdw blurRad="1524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9" name="Shape 16"/>
          <p:cNvSpPr/>
          <p:nvPr/>
        </p:nvSpPr>
        <p:spPr>
          <a:xfrm>
            <a:off x="3291840" y="914400"/>
            <a:ext cx="272491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Text 17"/>
          <p:cNvSpPr/>
          <p:nvPr/>
        </p:nvSpPr>
        <p:spPr>
          <a:xfrm>
            <a:off x="3291840" y="987552"/>
            <a:ext cx="2724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B4D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02</a:t>
            </a:r>
            <a:endParaRPr lang="en-US" sz="4400" dirty="0"/>
          </a:p>
        </p:txBody>
      </p:sp>
      <p:sp>
        <p:nvSpPr>
          <p:cNvPr id="21" name="Shape 18"/>
          <p:cNvSpPr/>
          <p:nvPr/>
        </p:nvSpPr>
        <p:spPr>
          <a:xfrm>
            <a:off x="4288536" y="1792224"/>
            <a:ext cx="731520" cy="7315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1524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408" y="1911096"/>
            <a:ext cx="493776" cy="49377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291840" y="2633472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ผูกบัญชีของคุณ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3291840" y="3017520"/>
            <a:ext cx="2724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พิมพ์ 'ผูกบัญชี' หรือ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กดเมนูในแอป LINE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3438144" y="3566160"/>
            <a:ext cx="2432304" cy="274320"/>
          </a:xfrm>
          <a:prstGeom prst="rect">
            <a:avLst/>
          </a:prstGeom>
          <a:solidFill>
            <a:srgbClr val="091523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6" name="Text 22"/>
          <p:cNvSpPr/>
          <p:nvPr/>
        </p:nvSpPr>
        <p:spPr>
          <a:xfrm>
            <a:off x="3438144" y="356616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4D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ใช้ @tesaban6.ac.th · ทำครั้งเดียว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6217920" y="914400"/>
            <a:ext cx="2724912" cy="3291840"/>
          </a:xfrm>
          <a:prstGeom prst="rect">
            <a:avLst/>
          </a:prstGeom>
          <a:solidFill>
            <a:srgbClr val="142032"/>
          </a:solidFill>
          <a:ln w="12700">
            <a:solidFill>
              <a:srgbClr val="142032"/>
            </a:solidFill>
            <a:prstDash val="solid"/>
          </a:ln>
          <a:effectLst>
            <a:outerShdw blurRad="1524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8" name="Shape 24"/>
          <p:cNvSpPr/>
          <p:nvPr/>
        </p:nvSpPr>
        <p:spPr>
          <a:xfrm>
            <a:off x="6217920" y="914400"/>
            <a:ext cx="2724912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9" name="Text 25"/>
          <p:cNvSpPr/>
          <p:nvPr/>
        </p:nvSpPr>
        <p:spPr>
          <a:xfrm>
            <a:off x="6217920" y="987552"/>
            <a:ext cx="2724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0B98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03</a:t>
            </a:r>
            <a:endParaRPr lang="en-US" sz="4400" dirty="0"/>
          </a:p>
        </p:txBody>
      </p:sp>
      <p:sp>
        <p:nvSpPr>
          <p:cNvPr id="30" name="Shape 26"/>
          <p:cNvSpPr/>
          <p:nvPr/>
        </p:nvSpPr>
        <p:spPr>
          <a:xfrm>
            <a:off x="7214616" y="1792224"/>
            <a:ext cx="731520" cy="7315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524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3488" y="1911096"/>
            <a:ext cx="493776" cy="493776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217920" y="2633472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เริ่มใช้งานทันที!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6217920" y="3017520"/>
            <a:ext cx="2724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แจ้งซ่อม · จองห้อง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ค้นหาภาพ · รับแจ้งเตือน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6364224" y="3566160"/>
            <a:ext cx="2432304" cy="274320"/>
          </a:xfrm>
          <a:prstGeom prst="rect">
            <a:avLst/>
          </a:prstGeom>
          <a:solidFill>
            <a:srgbClr val="091523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5" name="Text 30"/>
          <p:cNvSpPr/>
          <p:nvPr/>
        </p:nvSpPr>
        <p:spPr>
          <a:xfrm>
            <a:off x="6364224" y="356616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it.tesaban6.ac.th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91523"/>
          </a:solidFill>
          <a:ln w="12700">
            <a:solidFill>
              <a:srgbClr val="09152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7" name="Shape 32"/>
          <p:cNvSpPr/>
          <p:nvPr/>
        </p:nvSpPr>
        <p:spPr>
          <a:xfrm>
            <a:off x="0" y="4389120"/>
            <a:ext cx="9144000" cy="36576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8" name="Shape 33"/>
          <p:cNvSpPr/>
          <p:nvPr/>
        </p:nvSpPr>
        <p:spPr>
          <a:xfrm>
            <a:off x="411480" y="4480560"/>
            <a:ext cx="548640" cy="548640"/>
          </a:xfrm>
          <a:prstGeom prst="ellipse">
            <a:avLst/>
          </a:prstGeom>
          <a:solidFill>
            <a:srgbClr val="048A3B"/>
          </a:solidFill>
          <a:ln w="12700">
            <a:solidFill>
              <a:srgbClr val="048A3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" y="4585716"/>
            <a:ext cx="338328" cy="338328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1051560" y="45079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it.tesaban6.ac.th</a:t>
            </a:r>
            <a:endParaRPr lang="en-US" sz="1100" dirty="0"/>
          </a:p>
        </p:txBody>
      </p:sp>
      <p:sp>
        <p:nvSpPr>
          <p:cNvPr id="41" name="Text 35"/>
          <p:cNvSpPr/>
          <p:nvPr/>
        </p:nvSpPr>
        <p:spPr>
          <a:xfrm>
            <a:off x="1051560" y="47365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Web Browser · PWA App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4251960" y="4480560"/>
            <a:ext cx="548640" cy="548640"/>
          </a:xfrm>
          <a:prstGeom prst="ellipse">
            <a:avLst/>
          </a:prstGeom>
          <a:solidFill>
            <a:srgbClr val="048A3B"/>
          </a:solidFill>
          <a:ln w="12700">
            <a:solidFill>
              <a:srgbClr val="048A3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4373" y="4582973"/>
            <a:ext cx="347472" cy="347472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4892040" y="45079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C7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@crms6it</a:t>
            </a:r>
            <a:endParaRPr lang="en-US" sz="1100" dirty="0"/>
          </a:p>
        </p:txBody>
      </p:sp>
      <p:sp>
        <p:nvSpPr>
          <p:cNvPr id="45" name="Text 38"/>
          <p:cNvSpPr/>
          <p:nvPr/>
        </p:nvSpPr>
        <p:spPr>
          <a:xfrm>
            <a:off x="4892040" y="47365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94B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LINE Bot ID</a:t>
            </a:r>
            <a:endParaRPr lang="en-US" sz="900" dirty="0"/>
          </a:p>
        </p:txBody>
      </p:sp>
      <p:sp>
        <p:nvSpPr>
          <p:cNvPr id="46" name="Text 39"/>
          <p:cNvSpPr/>
          <p:nvPr/>
        </p:nvSpPr>
        <p:spPr>
          <a:xfrm>
            <a:off x="6400800" y="450799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A526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CRMS6-IT  ·  ระบบบริการออนไลน์</a:t>
            </a:r>
            <a:endParaRPr lang="en-US" sz="1000" dirty="0"/>
          </a:p>
        </p:txBody>
      </p:sp>
      <p:sp>
        <p:nvSpPr>
          <p:cNvPr id="47" name="Shape 40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3A526A"/>
          </a:solidFill>
          <a:ln w="12700">
            <a:solidFill>
              <a:srgbClr val="3A526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8" name="Text 41"/>
          <p:cNvSpPr/>
          <p:nvPr/>
        </p:nvSpPr>
        <p:spPr>
          <a:xfrm>
            <a:off x="8229600" y="48646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A526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10 /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1322</Words>
  <Application>Microsoft Macintosh PowerPoint</Application>
  <PresentationFormat>On-screen Show (16:9)</PresentationFormat>
  <Paragraphs>310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Prompt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CRMS6-IT คู่มือผู้ใช้งาน</dc:title>
  <dc:subject>PptxGenJS Presentation</dc:subject>
  <dc:creator>CRMS6-IT System</dc:creator>
  <cp:lastModifiedBy>2343</cp:lastModifiedBy>
  <cp:revision>3</cp:revision>
  <dcterms:created xsi:type="dcterms:W3CDTF">2026-03-19T07:53:22Z</dcterms:created>
  <dcterms:modified xsi:type="dcterms:W3CDTF">2026-03-19T08:03:04Z</dcterms:modified>
</cp:coreProperties>
</file>