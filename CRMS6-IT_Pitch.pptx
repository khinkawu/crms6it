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6400800" y="-822960"/>
            <a:ext cx="3657600" cy="3657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406640" y="-457200"/>
            <a:ext cx="2560320" cy="256032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-822960" y="3657600"/>
            <a:ext cx="2651760" cy="2651760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00B4D8">
              <a:alpha val="8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🔧 แจ้งซ่อม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21408" y="98755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06D6A0">
              <a:alpha val="8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987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📅 จองห้อง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85616" y="98755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FB347">
              <a:alpha val="8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987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📦 คลังวัสดุ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49824" y="98755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9B5DE5">
              <a:alpha val="82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987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📷 ถ่ายภาพ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14032" y="98755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00C300">
              <a:alpha val="82000"/>
            </a:srgbClr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987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🤖 LINE AI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1444752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spc="500" kern="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</a:t>
            </a:r>
            <a:endParaRPr lang="en-US" sz="76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ระบบบริหารจัดการงาน ICT ครบวงจร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62000"/>
                  </a:srgb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โรงเรียนเทศบาล 6 นครเชียงราย  •  ฝ่ายเทคโนโลยีสารสนเทศ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0" y="3703320"/>
            <a:ext cx="3657600" cy="402336"/>
          </a:xfrm>
          <a:prstGeom prst="roundRect">
            <a:avLst>
              <a:gd name="adj" fmla="val 15909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70332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🌐  crms6it.vercel.app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  •  โรงเรียนเทศบาล 6 นครเชียงราย  •  ฝ่ายเทคโนโลยีสารสนเทศ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ก่อน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มีระบบ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297180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BEFORE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14600" y="347472"/>
            <a:ext cx="3063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14600" y="347472"/>
            <a:ext cx="64008" cy="19202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9192" y="530352"/>
            <a:ext cx="457200" cy="4572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9776" y="63093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64408" y="512064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แจ้งซ่อมผ่านกระดาษ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651760" y="102412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ไม่รู้ว่าช่างรับงานหรือยัง ติดตามยาก ข้อมูลสูญหาย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347472"/>
            <a:ext cx="3063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347472"/>
            <a:ext cx="64008" cy="19202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25312" y="530352"/>
            <a:ext cx="457200" cy="45720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63093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10528" y="512064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จองห้องแบบปากเปล่า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897880" y="102412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เกิดการจองซ้อนทับ ไม่มีหลักฐาน ตรวจสอบไม่ได้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2514600" y="2633472"/>
            <a:ext cx="3063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14600" y="263347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679192" y="281635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776" y="291693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264408" y="2798064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ยืม-คืนอุปกรณ์ไม่มีระบบ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2651760" y="331012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ไม่รู้ว่าอุปกรณ์อยู่ที่ไหน ใครถืออยู่ สต็อกไม่ถูกต้อง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760720" y="2633472"/>
            <a:ext cx="3063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760720" y="2633472"/>
            <a:ext cx="64008" cy="1920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925312" y="2816352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2916936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510528" y="2798064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ไม่มีข้อมูลภาพรวม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5897880" y="331012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ผู้บริหารขาดสถิติ Real-time รายงานไม่ได้ทันที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  •  โรงเรียนเทศบาล 6 นครเชียงราย  •  ฝ่ายเทคโนโลยีสารสนเทศ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 ใช้งานได้ 3 ช่องทาง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เข้าถึงได้ทุกที่ — เว็บ, LINE Bot, LINE LIFF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97480" cy="35204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269748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481328"/>
            <a:ext cx="822960" cy="82296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627632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3957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เว็บไซต์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2862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crms6it.vercel.app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324612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246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Login Google @tesaban6.ac.th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372160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7216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แบบฟอร์มและฟีเจอร์ครบถ้วน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419709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1970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ดูปฏิทิน สถิติ ประวัติ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73552" y="1261872"/>
            <a:ext cx="2697480" cy="35204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73552" y="1261872"/>
            <a:ext cx="2697480" cy="91440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06240" y="1481328"/>
            <a:ext cx="822960" cy="822960"/>
          </a:xfrm>
          <a:prstGeom prst="ellipse">
            <a:avLst/>
          </a:prstGeom>
          <a:solidFill>
            <a:srgbClr val="00C300">
              <a:alpha val="85000"/>
            </a:srgbClr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627632"/>
            <a:ext cx="530352" cy="5303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64992" y="23957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3364992" y="2862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3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เพิ่มเพื่อน @952lozgb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474720" y="3246120"/>
            <a:ext cx="182880" cy="18288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30752" y="3246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AI วินิจฉัยอาการ (Gemini)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474720" y="3721608"/>
            <a:ext cx="182880" cy="18288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30752" y="37216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ติดตามสถานะ + ค้นหาห้อง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3474720" y="4197096"/>
            <a:ext cx="182880" cy="18288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730752" y="41970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ค้นหาแกลเลอรี + วิดีโอ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181344" y="1261872"/>
            <a:ext cx="2697480" cy="3520440"/>
          </a:xfrm>
          <a:prstGeom prst="rect">
            <a:avLst/>
          </a:prstGeom>
          <a:solidFill>
            <a:srgbClr val="1A3A5C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81344" y="1261872"/>
            <a:ext cx="269748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114032" y="1481328"/>
            <a:ext cx="822960" cy="822960"/>
          </a:xfrm>
          <a:prstGeom prst="ellipse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627632"/>
            <a:ext cx="530352" cy="53035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272784" y="23957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LIFF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6272784" y="2862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Rich Menu ใน LINE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382512" y="3246120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638544" y="3246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 (ปุ่มใน LINE)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382512" y="3721608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638544" y="37216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 (ปุ่มใน LINE)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6382512" y="4197096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638544" y="41970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รับแจ้งเตือนอัตโนมัติ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  •  โรงเรียนเทศบาล 6 นครเชียงราย  •  ฝ่ายเทคโนโลยีสารสนเทศ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ก่อนใช้งาน LINE: ผูกบัญชี 1 ครั้ง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3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ผูกบัญชีเพื่อรับแจ้งเตือน LINE และใช้ฟีเจอร์ AI Bot ได้ครบ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069080" cy="3657600"/>
          </a:xfrm>
          <a:prstGeom prst="rect">
            <a:avLst/>
          </a:prstGeom>
          <a:solidFill>
            <a:srgbClr val="0D3A1A"/>
          </a:solidFill>
          <a:ln w="12700">
            <a:solidFill>
              <a:srgbClr val="00C3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4069080" cy="82296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⭐ แนะนำ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C3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วิธีที่ 1 — OTP ใน LINE Bot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274320" cy="27432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0482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เปิดแชท LINE Bot ของโรงเรียน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04288"/>
            <a:ext cx="0" cy="201168"/>
          </a:xfrm>
          <a:prstGeom prst="line">
            <a:avLst/>
          </a:prstGeom>
          <a:noFill/>
          <a:ln w="19050">
            <a:solidFill>
              <a:srgbClr val="3A70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11480" y="2505456"/>
            <a:ext cx="274320" cy="27432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5237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 "ผูกบัญชี" ส่งไป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79776"/>
            <a:ext cx="0" cy="201168"/>
          </a:xfrm>
          <a:prstGeom prst="line">
            <a:avLst/>
          </a:prstGeom>
          <a:noFill/>
          <a:ln w="19050">
            <a:solidFill>
              <a:srgbClr val="3A704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11480" y="2980944"/>
            <a:ext cx="274320" cy="27432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9992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กรอกอีเมล @tesaban6.ac.th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55264"/>
            <a:ext cx="0" cy="201168"/>
          </a:xfrm>
          <a:prstGeom prst="line">
            <a:avLst/>
          </a:prstGeom>
          <a:noFill/>
          <a:ln w="19050">
            <a:solidFill>
              <a:srgbClr val="3A704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3456432"/>
            <a:ext cx="274320" cy="27432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474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รับรหัส OTP 6 หลักทางอีเมล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30752"/>
            <a:ext cx="0" cy="201168"/>
          </a:xfrm>
          <a:prstGeom prst="line">
            <a:avLst/>
          </a:prstGeom>
          <a:noFill/>
          <a:ln w="19050">
            <a:solidFill>
              <a:srgbClr val="3A704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931920"/>
            <a:ext cx="274320" cy="27432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9502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 OTP กลับไปใน 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4434840"/>
            <a:ext cx="3794760" cy="256032"/>
          </a:xfrm>
          <a:prstGeom prst="roundRect">
            <a:avLst>
              <a:gd name="adj" fmla="val 17857"/>
            </a:avLst>
          </a:prstGeom>
          <a:solidFill>
            <a:srgbClr val="00C300">
              <a:alpha val="20000"/>
            </a:srgbClr>
          </a:solidFill>
          <a:ln w="12700">
            <a:solidFill>
              <a:srgbClr val="00C30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434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3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⏱  OTP มีอายุ 5 นาที — ตรวจโฟลเดอร์ Spam ถ้าไม่เห็นอีเมล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1115568"/>
            <a:ext cx="4315968" cy="3657600"/>
          </a:xfrm>
          <a:prstGeom prst="rect">
            <a:avLst/>
          </a:prstGeom>
          <a:solidFill>
            <a:srgbClr val="0D3A1A"/>
          </a:solidFill>
          <a:ln w="12700">
            <a:solidFill>
              <a:srgbClr val="0099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26280" y="1115568"/>
            <a:ext cx="4315968" cy="82296"/>
          </a:xfrm>
          <a:prstGeom prst="rect">
            <a:avLst/>
          </a:prstGeom>
          <a:solidFill>
            <a:srgbClr val="009900"/>
          </a:solidFill>
          <a:ln w="12700">
            <a:solidFill>
              <a:srgbClr val="00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234440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CC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หลังผูกบัญชี คุณจะได้รับ: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4663440" y="1737360"/>
            <a:ext cx="4041648" cy="438912"/>
          </a:xfrm>
          <a:prstGeom prst="rect">
            <a:avLst/>
          </a:prstGeom>
          <a:solidFill>
            <a:srgbClr val="143D1A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1737360"/>
            <a:ext cx="54864" cy="438912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828800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138928" y="17922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แจ้งเตือนเมื่อสถานะงานซ่อมเปลี่ยน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663440" y="2258568"/>
            <a:ext cx="4041648" cy="438912"/>
          </a:xfrm>
          <a:prstGeom prst="rect">
            <a:avLst/>
          </a:prstGeom>
          <a:solidFill>
            <a:srgbClr val="143D1A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63440" y="2258568"/>
            <a:ext cx="54864" cy="438912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350008"/>
            <a:ext cx="274320" cy="27432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138928" y="23134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แจ้งเตือนเมื่อการจองห้องได้รับอนุมัติ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663440" y="2779776"/>
            <a:ext cx="4041648" cy="438912"/>
          </a:xfrm>
          <a:prstGeom prst="rect">
            <a:avLst/>
          </a:prstGeom>
          <a:solidFill>
            <a:srgbClr val="143D1A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4663440" y="2779776"/>
            <a:ext cx="54864" cy="438912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871216"/>
            <a:ext cx="274320" cy="27432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138928" y="28346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แจ้งเตือนเมื่อช่างซ่อมเสร็จ (พร้อมรูป)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4663440" y="3300984"/>
            <a:ext cx="4041648" cy="438912"/>
          </a:xfrm>
          <a:prstGeom prst="rect">
            <a:avLst/>
          </a:prstGeom>
          <a:solidFill>
            <a:srgbClr val="143D1A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4663440" y="3300984"/>
            <a:ext cx="54864" cy="438912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392424"/>
            <a:ext cx="274320" cy="2743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138928" y="33558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 LINE Bot: พิมพ์ 'แจ้งซ่อม' ได้เลย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4663440" y="3822192"/>
            <a:ext cx="4041648" cy="438912"/>
          </a:xfrm>
          <a:prstGeom prst="rect">
            <a:avLst/>
          </a:prstGeom>
          <a:solidFill>
            <a:srgbClr val="143D1A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4663440" y="3822192"/>
            <a:ext cx="54864" cy="438912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913632"/>
            <a:ext cx="274320" cy="274320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5138928" y="38770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AI วิเคราะห์รูปอาการอุปกรณ์ที่ส่งไป</a:t>
            </a:r>
            <a:endParaRPr lang="en-US" sz="1200" dirty="0"/>
          </a:p>
        </p:txBody>
      </p:sp>
      <p:sp>
        <p:nvSpPr>
          <p:cNvPr id="54" name="Shape 47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3A1A"/>
          </a:solidFill>
          <a:ln w="12700">
            <a:solidFill>
              <a:srgbClr val="0D3A1A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  •  โรงเรียนเทศบาล 6 นครเชียงราย  •  ฝ่ายเทคโนโลยีสารสนเทศ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4008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ระบบแจ้งซ่อม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05840" y="5943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>
                    <a:alpha val="75000"/>
                  </a:srgb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โสตทัศนศึกษา / IT  •  อาคารสถานที่  •  AI วินิจฉัยผ่าน LINE Bot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404164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3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4041648" cy="73152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252728"/>
            <a:ext cx="1389888" cy="246888"/>
          </a:xfrm>
          <a:prstGeom prst="roundRect">
            <a:avLst>
              <a:gd name="adj" fmla="val 14815"/>
            </a:avLst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252728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⭐ AI วินิจฉัย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1554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แจ้งซ่อมผ่าน LINE Bot (แนะนำ)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11480" y="2057400"/>
            <a:ext cx="274320" cy="27432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" y="207568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เปิดแชท LINE Bot → พิมพ์ "แจ้งซ่อม"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331720"/>
            <a:ext cx="0" cy="210312"/>
          </a:xfrm>
          <a:prstGeom prst="line">
            <a:avLst/>
          </a:prstGeom>
          <a:noFill/>
          <a:ln w="19050">
            <a:solidFill>
              <a:srgbClr val="A7F3D0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411480" y="2542032"/>
            <a:ext cx="274320" cy="27432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6384" y="25603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ส่งรูปอุปกรณ์ / หน้าจอ Error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2816352"/>
            <a:ext cx="0" cy="210312"/>
          </a:xfrm>
          <a:prstGeom prst="line">
            <a:avLst/>
          </a:prstGeom>
          <a:noFill/>
          <a:ln w="19050">
            <a:solidFill>
              <a:srgbClr val="A7F3D0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411480" y="3026664"/>
            <a:ext cx="274320" cy="27432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6384" y="30449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AI วิเคราะห์รูปด้วย Gemini Vision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300984"/>
            <a:ext cx="0" cy="210312"/>
          </a:xfrm>
          <a:prstGeom prst="line">
            <a:avLst/>
          </a:prstGeom>
          <a:noFill/>
          <a:ln w="19050">
            <a:solidFill>
              <a:srgbClr val="A7F3D0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411480" y="3511296"/>
            <a:ext cx="274320" cy="27432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86384" y="352958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บอก ห้อง + โซน (ม.ต้น / ม.ปลาย)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3785616"/>
            <a:ext cx="0" cy="210312"/>
          </a:xfrm>
          <a:prstGeom prst="line">
            <a:avLst/>
          </a:prstGeom>
          <a:noFill/>
          <a:ln w="19050">
            <a:solidFill>
              <a:srgbClr val="A7F3D0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411480" y="3995928"/>
            <a:ext cx="274320" cy="274320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86384" y="40142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รับหมายเลขรายการ + ช่างได้รับแจ้ง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498848" y="1143000"/>
            <a:ext cx="432511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498848" y="1143000"/>
            <a:ext cx="432511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45152" y="1252728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แจ้งซ่อมผ่านเว็บ / LINE LIFF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4645152" y="166420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(กรอกแบบฟอร์มตรง — ไม่มี AI วินิจฉัย)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645152" y="1993392"/>
            <a:ext cx="4041648" cy="365760"/>
          </a:xfrm>
          <a:prstGeom prst="rect">
            <a:avLst/>
          </a:prstGeom>
          <a:solidFill>
            <a:srgbClr val="F0F9FF"/>
          </a:solidFill>
          <a:ln w="12700">
            <a:solidFill>
              <a:srgbClr val="E0EFF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90872" y="20299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ตำแหน่ง: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870448" y="20299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ครู / ผู้บริหาร / บุคลากร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645152" y="2404872"/>
            <a:ext cx="40416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FF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90872" y="2441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เบอร์โทร: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5870448" y="24414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เพื่อให้ช่างโทรกลับ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4645152" y="2816352"/>
            <a:ext cx="4041648" cy="365760"/>
          </a:xfrm>
          <a:prstGeom prst="rect">
            <a:avLst/>
          </a:prstGeom>
          <a:solidFill>
            <a:srgbClr val="F0F9FF"/>
          </a:solidFill>
          <a:ln w="12700">
            <a:solidFill>
              <a:srgbClr val="E0EFF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90872" y="2852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ห้อง: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870448" y="28529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เช่น ห้อง 204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4645152" y="3227832"/>
            <a:ext cx="40416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FF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90872" y="32644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โซน: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870448" y="32644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ม.ต้น หรือ ม.ปลาย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4645152" y="3639312"/>
            <a:ext cx="4041648" cy="365760"/>
          </a:xfrm>
          <a:prstGeom prst="rect">
            <a:avLst/>
          </a:prstGeom>
          <a:solidFill>
            <a:srgbClr val="F0F9FF"/>
          </a:solidFill>
          <a:ln w="12700">
            <a:solidFill>
              <a:srgbClr val="E0EFF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90872" y="3675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รายละเอียด: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5870448" y="36758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อธิบายอาการ (ยิ่งละเอียดยิ่งดี)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4645152" y="4050792"/>
            <a:ext cx="40416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FF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690872" y="40873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รูปภาพ: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5870448" y="40873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แนบ 1–5 รูป (ช่วยช่างมาก)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0" y="4521708"/>
            <a:ext cx="9144000" cy="329184"/>
          </a:xfrm>
          <a:prstGeom prst="rect">
            <a:avLst/>
          </a:prstGeom>
          <a:solidFill>
            <a:srgbClr val="EFF9FF"/>
          </a:solidFill>
          <a:ln w="12700">
            <a:solidFill>
              <a:srgbClr val="B0E4F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74320" y="45491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สถานะ: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1115568" y="45491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🟡 รอดำเนินการ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3081528" y="45491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🔵 กำลังซ่อม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5047488" y="45491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🟠 รอชิ้นส่วน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7013448" y="45491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✅ เสร็จสิ้น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4008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ระบบจองห้อง / คิว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05840" y="5943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>
                    <a:alpha val="75000"/>
                  </a:srgb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ห้องประชุม  •  อุปกรณ์โสตฯ  •  คิวช่างภาพ  •  ต้องรอ Admin อนุมัติ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195681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70432"/>
            <a:ext cx="1956816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389888"/>
            <a:ext cx="603504" cy="60350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1389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75488" y="21214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ตรวจปฏิทิน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5488" y="267919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ดูว่าห้องว่างหรือไม่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ก่อนส่งคำขอ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" y="361188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ผู้ใช้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322576" y="239572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542032" y="1170432"/>
            <a:ext cx="195681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42032" y="1170432"/>
            <a:ext cx="1956816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18688" y="1389888"/>
            <a:ext cx="603504" cy="6035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18688" y="1389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651760" y="21214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กรอกแบบฟอร์ม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651760" y="267919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หัวข้องาน วันเวลา ห้อง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อุปกรณ์ที่ต้องการ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788920" y="361188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88920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ผู้ใช้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498848" y="239572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4718304" y="1170432"/>
            <a:ext cx="195681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18304" y="1170432"/>
            <a:ext cx="1956816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94960" y="1389888"/>
            <a:ext cx="603504" cy="603504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94960" y="1389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828032" y="21214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 พิจารณา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828032" y="267919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อนุมัติหรือปฏิเสธ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(พร้อมแจ้งเหตุผล)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965192" y="361188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FB347">
              <a:alpha val="85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65192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4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 / Mod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675120" y="239572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6894576" y="1170432"/>
            <a:ext cx="195681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894576" y="1170432"/>
            <a:ext cx="1956816" cy="73152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71232" y="1389888"/>
            <a:ext cx="603504" cy="603504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71232" y="1389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004304" y="21214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รับยืนยันผ่าน LINE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7004304" y="267919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แจ้งเตือนอัตโนมัติ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ทาง LINE ทันที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141464" y="361188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0C300">
              <a:alpha val="85000"/>
            </a:srgbClr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41464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3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ผู้ใช้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0" y="4521708"/>
            <a:ext cx="9144000" cy="329184"/>
          </a:xfrm>
          <a:prstGeom prst="rect">
            <a:avLst/>
          </a:prstGeom>
          <a:solidFill>
            <a:srgbClr val="EDFFF8"/>
          </a:solidFill>
          <a:ln w="12700">
            <a:solidFill>
              <a:srgbClr val="B0F0D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45491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7A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🏫  ห้องที่จองได้: พญาสัตบรรณ • โรงยิม • จามจุรี • ลีลาวดี • หอประชุม • ศาสตร์พระราชา • ศูนย์ภาษา • ชั้น 3 อาคารอำนวยการ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C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 ทำอะไรได้บ้าง?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3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เพิ่มเพื่อน  @952lozgb  แล้วพิมพ์คำสั่งด้านล่างได้เลย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14800" cy="749808"/>
          </a:xfrm>
          <a:prstGeom prst="rect">
            <a:avLst/>
          </a:prstGeom>
          <a:solidFill>
            <a:srgbClr val="0D3A14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54864" cy="749808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426464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1353312"/>
            <a:ext cx="1572768" cy="256032"/>
          </a:xfrm>
          <a:prstGeom prst="roundRect">
            <a:avLst>
              <a:gd name="adj" fmla="val 14286"/>
            </a:avLst>
          </a:prstGeom>
          <a:solidFill>
            <a:srgbClr val="00C300">
              <a:alpha val="80000"/>
            </a:srgbClr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1353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60120" y="165506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เริ่มแจ้งซ่อมแบบ AI ถามทีละขั้นตอน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261872"/>
            <a:ext cx="4114800" cy="749808"/>
          </a:xfrm>
          <a:prstGeom prst="rect">
            <a:avLst/>
          </a:prstGeom>
          <a:solidFill>
            <a:srgbClr val="0D3A14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261872"/>
            <a:ext cx="54864" cy="749808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426464"/>
            <a:ext cx="402336" cy="4023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349240" y="1353312"/>
            <a:ext cx="1572768" cy="256032"/>
          </a:xfrm>
          <a:prstGeom prst="roundRect">
            <a:avLst>
              <a:gd name="adj" fmla="val 14286"/>
            </a:avLst>
          </a:prstGeom>
          <a:solidFill>
            <a:srgbClr val="00C300">
              <a:alpha val="80000"/>
            </a:srgbClr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49240" y="1353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[ส่งรูปภาพ]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349240" y="165506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AI วิเคราะห์รูปอุปกรณ์ / Error ด้วย Gemini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2130552"/>
            <a:ext cx="4114800" cy="749808"/>
          </a:xfrm>
          <a:prstGeom prst="rect">
            <a:avLst/>
          </a:prstGeom>
          <a:solidFill>
            <a:srgbClr val="0D3A14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2130552"/>
            <a:ext cx="54864" cy="749808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295144"/>
            <a:ext cx="402336" cy="40233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60120" y="2221992"/>
            <a:ext cx="1572768" cy="256032"/>
          </a:xfrm>
          <a:prstGeom prst="roundRect">
            <a:avLst>
              <a:gd name="adj" fmla="val 14286"/>
            </a:avLst>
          </a:prstGeom>
          <a:solidFill>
            <a:srgbClr val="00C300">
              <a:alpha val="80000"/>
            </a:srgbClr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60120" y="2221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ติดตามสถานะ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60120" y="252374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แสดงรายการซ่อมที่ค้างทั้งหมดของท่าน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2130552"/>
            <a:ext cx="4114800" cy="749808"/>
          </a:xfrm>
          <a:prstGeom prst="rect">
            <a:avLst/>
          </a:prstGeom>
          <a:solidFill>
            <a:srgbClr val="0D3A14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09160" y="2130552"/>
            <a:ext cx="54864" cy="749808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295144"/>
            <a:ext cx="402336" cy="40233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349240" y="2221992"/>
            <a:ext cx="1572768" cy="256032"/>
          </a:xfrm>
          <a:prstGeom prst="roundRect">
            <a:avLst>
              <a:gd name="adj" fmla="val 14286"/>
            </a:avLst>
          </a:prstGeom>
          <a:solidFill>
            <a:srgbClr val="00C300">
              <a:alpha val="80000"/>
            </a:srgbClr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349240" y="2221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ห้อง [ชื่อห้อง] ว่างไหม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349240" y="252374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ตรวจสอบตารางห้องและบอกว่างช่วงไหน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0040" y="2999232"/>
            <a:ext cx="4114800" cy="749808"/>
          </a:xfrm>
          <a:prstGeom prst="rect">
            <a:avLst/>
          </a:prstGeom>
          <a:solidFill>
            <a:srgbClr val="0D3A14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0040" y="2999232"/>
            <a:ext cx="54864" cy="749808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163824"/>
            <a:ext cx="402336" cy="40233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60120" y="3090672"/>
            <a:ext cx="1572768" cy="256032"/>
          </a:xfrm>
          <a:prstGeom prst="roundRect">
            <a:avLst>
              <a:gd name="adj" fmla="val 14286"/>
            </a:avLst>
          </a:prstGeom>
          <a:solidFill>
            <a:srgbClr val="00C300">
              <a:alpha val="80000"/>
            </a:srgbClr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960120" y="30906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หารูป [ชื่อกิจกรรม]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960120" y="33924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ค้นหาแกลเลอรีภาพ ส่งลิงก์ Google Drive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709160" y="2999232"/>
            <a:ext cx="4114800" cy="749808"/>
          </a:xfrm>
          <a:prstGeom prst="rect">
            <a:avLst/>
          </a:prstGeom>
          <a:solidFill>
            <a:srgbClr val="0D3A14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709160" y="2999232"/>
            <a:ext cx="54864" cy="749808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3163824"/>
            <a:ext cx="402336" cy="402336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5349240" y="3090672"/>
            <a:ext cx="1572768" cy="256032"/>
          </a:xfrm>
          <a:prstGeom prst="roundRect">
            <a:avLst>
              <a:gd name="adj" fmla="val 14286"/>
            </a:avLst>
          </a:prstGeom>
          <a:solidFill>
            <a:srgbClr val="00C300">
              <a:alpha val="80000"/>
            </a:srgbClr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349240" y="30906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ค้นหาวิดีโอ [คำค้น]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349240" y="33924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ค้นหาคลังวิดีโอด้วย AI Semantic Search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320040" y="3867912"/>
            <a:ext cx="4114800" cy="749808"/>
          </a:xfrm>
          <a:prstGeom prst="rect">
            <a:avLst/>
          </a:prstGeom>
          <a:solidFill>
            <a:srgbClr val="0D3A14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320040" y="3867912"/>
            <a:ext cx="54864" cy="749808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" y="4032504"/>
            <a:ext cx="402336" cy="402336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960120" y="3959352"/>
            <a:ext cx="1572768" cy="256032"/>
          </a:xfrm>
          <a:prstGeom prst="roundRect">
            <a:avLst>
              <a:gd name="adj" fmla="val 14286"/>
            </a:avLst>
          </a:prstGeom>
          <a:solidFill>
            <a:srgbClr val="00C300">
              <a:alpha val="80000"/>
            </a:srgbClr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960120" y="39593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งานของฉัน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960120" y="42611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 Dashboard ส่วนตัว — การจอง, งานซ่อม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4709160" y="3867912"/>
            <a:ext cx="4114800" cy="749808"/>
          </a:xfrm>
          <a:prstGeom prst="rect">
            <a:avLst/>
          </a:prstGeom>
          <a:solidFill>
            <a:srgbClr val="0D3A14"/>
          </a:solidFill>
          <a:ln w="12700">
            <a:solidFill>
              <a:srgbClr val="1A6628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4709160" y="3867912"/>
            <a:ext cx="54864" cy="749808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7176" y="4032504"/>
            <a:ext cx="402336" cy="402336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5349240" y="3959352"/>
            <a:ext cx="1572768" cy="256032"/>
          </a:xfrm>
          <a:prstGeom prst="roundRect">
            <a:avLst>
              <a:gd name="adj" fmla="val 14286"/>
            </a:avLst>
          </a:prstGeom>
          <a:solidFill>
            <a:srgbClr val="00C300">
              <a:alpha val="80000"/>
            </a:srgbClr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5349240" y="39593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ผูกบัญชี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5349240" y="42611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D4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เริ่มขั้นตอนผูก LINE กับอีเมลโรงเรียน (OTP)</a:t>
            </a:r>
            <a:endParaRPr lang="en-US" sz="1100" dirty="0"/>
          </a:p>
        </p:txBody>
      </p:sp>
      <p:sp>
        <p:nvSpPr>
          <p:cNvPr id="53" name="Shape 43"/>
          <p:cNvSpPr/>
          <p:nvPr/>
        </p:nvSpPr>
        <p:spPr>
          <a:xfrm>
            <a:off x="320040" y="4709160"/>
            <a:ext cx="8503920" cy="274320"/>
          </a:xfrm>
          <a:prstGeom prst="roundRect">
            <a:avLst>
              <a:gd name="adj" fmla="val 16667"/>
            </a:avLst>
          </a:prstGeom>
          <a:solidFill>
            <a:srgbClr val="1A0000">
              <a:alpha val="70000"/>
            </a:srgbClr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999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❌  สิ่งที่ทำไม่ได้ผ่าน Bot: จองห้อง (ต้องใช้ Rich Menu → LIFF)  |  แก้ไขรายการ  |  ดูโปรไฟล์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4008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คลังวัสดุ / ครุภัณฑ์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05840" y="5943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>
                    <a:alpha val="75000"/>
                  </a:srgb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QR Code  •  ยืม-คืน  •  เบิกวัสดุ  •  ลายเซ็นดิจิทัล  •  ติดตาม Real-time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404164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4041648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261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ยืมครุภัณฑ์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1480" y="1801368"/>
            <a:ext cx="274320" cy="2743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6384" y="181965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สแกน QR Code ที่ครุภัณฑ์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075688"/>
            <a:ext cx="0" cy="210312"/>
          </a:xfrm>
          <a:prstGeom prst="line">
            <a:avLst/>
          </a:prstGeom>
          <a:noFill/>
          <a:ln w="19050">
            <a:solidFill>
              <a:srgbClr val="FFD9A0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11480" y="2286000"/>
            <a:ext cx="274320" cy="2743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86384" y="230428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กรอก ชื่อ / ห้อง / เบอร์ / วันคืน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2560320"/>
            <a:ext cx="0" cy="210312"/>
          </a:xfrm>
          <a:prstGeom prst="line">
            <a:avLst/>
          </a:prstGeom>
          <a:noFill/>
          <a:ln w="19050">
            <a:solidFill>
              <a:srgbClr val="FFD9A0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411480" y="2770632"/>
            <a:ext cx="274320" cy="2743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148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86384" y="27889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วาดลายเซ็นดิจิทัล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3044952"/>
            <a:ext cx="0" cy="210312"/>
          </a:xfrm>
          <a:prstGeom prst="line">
            <a:avLst/>
          </a:prstGeom>
          <a:noFill/>
          <a:ln w="19050">
            <a:solidFill>
              <a:srgbClr val="FFD9A0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411480" y="3255264"/>
            <a:ext cx="274320" cy="2743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148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86384" y="32735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ยืนยัน — สถานะเป็น "ถูกยืม"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48640" y="3529584"/>
            <a:ext cx="0" cy="210312"/>
          </a:xfrm>
          <a:prstGeom prst="line">
            <a:avLst/>
          </a:prstGeom>
          <a:noFill/>
          <a:ln w="19050">
            <a:solidFill>
              <a:srgbClr val="FFD9A0"/>
            </a:solidFill>
            <a:prstDash val="dash"/>
          </a:ln>
        </p:spPr>
      </p:sp>
      <p:sp>
        <p:nvSpPr>
          <p:cNvPr id="26" name="Shape 22"/>
          <p:cNvSpPr/>
          <p:nvPr/>
        </p:nvSpPr>
        <p:spPr>
          <a:xfrm>
            <a:off x="411480" y="3739896"/>
            <a:ext cx="274320" cy="2743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11480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86384" y="375818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นำกลับมาคืน → กด "คืน" ในระบบ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498848" y="1143000"/>
            <a:ext cx="432511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498848" y="1143000"/>
            <a:ext cx="432511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45152" y="1252728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เบิกวัสดุ / ครุภัณฑ์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4645152" y="166420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(เบิกแล้วไม่ต้องคืน — ลดสต็อคอัตโนมัติ)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645152" y="198424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645152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010912" y="200253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สแกน QR Code สินค้า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782312" y="2258568"/>
            <a:ext cx="0" cy="210312"/>
          </a:xfrm>
          <a:prstGeom prst="line">
            <a:avLst/>
          </a:prstGeom>
          <a:noFill/>
          <a:ln w="19050">
            <a:solidFill>
              <a:srgbClr val="B0E4F8"/>
            </a:solidFill>
            <a:prstDash val="dash"/>
          </a:ln>
        </p:spPr>
      </p:sp>
      <p:sp>
        <p:nvSpPr>
          <p:cNvPr id="37" name="Shape 33"/>
          <p:cNvSpPr/>
          <p:nvPr/>
        </p:nvSpPr>
        <p:spPr>
          <a:xfrm>
            <a:off x="4645152" y="246888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64515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010912" y="248716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ระบุตำแหน่ง + วัตถุประสงค์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4782312" y="2743200"/>
            <a:ext cx="0" cy="210312"/>
          </a:xfrm>
          <a:prstGeom prst="line">
            <a:avLst/>
          </a:prstGeom>
          <a:noFill/>
          <a:ln w="19050">
            <a:solidFill>
              <a:srgbClr val="B0E4F8"/>
            </a:solidFill>
            <a:prstDash val="dash"/>
          </a:ln>
        </p:spPr>
      </p:sp>
      <p:sp>
        <p:nvSpPr>
          <p:cNvPr id="41" name="Shape 37"/>
          <p:cNvSpPr/>
          <p:nvPr/>
        </p:nvSpPr>
        <p:spPr>
          <a:xfrm>
            <a:off x="4645152" y="295351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64515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010912" y="297180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วาดลายเซ็นดิจิทัลยืนยัน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4782312" y="3227832"/>
            <a:ext cx="0" cy="210312"/>
          </a:xfrm>
          <a:prstGeom prst="line">
            <a:avLst/>
          </a:prstGeom>
          <a:noFill/>
          <a:ln w="19050">
            <a:solidFill>
              <a:srgbClr val="B0E4F8"/>
            </a:solidFill>
            <a:prstDash val="dash"/>
          </a:ln>
        </p:spPr>
      </p:sp>
      <p:sp>
        <p:nvSpPr>
          <p:cNvPr id="45" name="Shape 41"/>
          <p:cNvSpPr/>
          <p:nvPr/>
        </p:nvSpPr>
        <p:spPr>
          <a:xfrm>
            <a:off x="4645152" y="343814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645152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5010912" y="345643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ระบบอัพเดทสต็อคอัตโนมัติ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4782312" y="3712464"/>
            <a:ext cx="0" cy="210312"/>
          </a:xfrm>
          <a:prstGeom prst="line">
            <a:avLst/>
          </a:prstGeom>
          <a:noFill/>
          <a:ln w="19050">
            <a:solidFill>
              <a:srgbClr val="B0E4F8"/>
            </a:solidFill>
            <a:prstDash val="dash"/>
          </a:ln>
        </p:spPr>
      </p:sp>
      <p:sp>
        <p:nvSpPr>
          <p:cNvPr id="49" name="Shape 45"/>
          <p:cNvSpPr/>
          <p:nvPr/>
        </p:nvSpPr>
        <p:spPr>
          <a:xfrm>
            <a:off x="4645152" y="3922776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645152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5010912" y="394106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ดูประวัติการเบิกย้อนหลังได้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  •  โรงเรียนเทศบาล 6 นครเชียงราย  •  ฝ่ายเทคโนโลยีสารสนเทศ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4008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ถ่ายภาพ &amp; แกลเลอรี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05840" y="5943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>
                    <a:alpha val="75000"/>
                  </a:srgb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จองคิวช่างภาพ  •  Google Drive  •  แกลเลอรีออนไลน์  •  ดูผ่าน LINE Bot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20040" y="1170432"/>
            <a:ext cx="152704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70432"/>
            <a:ext cx="1527048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371600"/>
            <a:ext cx="566928" cy="5669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93192" y="205740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จองคิวช่างภาพ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3192" y="260604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กรอกฟอร์มจองห้อง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ติ๊ก ✅ ต้องการช่างภาพ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847088" y="2331720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057400" y="1170432"/>
            <a:ext cx="152704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57400" y="1170432"/>
            <a:ext cx="152704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42032" y="1371600"/>
            <a:ext cx="566928" cy="5669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42032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130552" y="205740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 มอบหมาย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130552" y="260604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เลือกช่างภาพ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แจ้งงานผ่าน LINE ทันที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84448" y="2331720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794760" y="1170432"/>
            <a:ext cx="152704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794760" y="1170432"/>
            <a:ext cx="1527048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79392" y="1371600"/>
            <a:ext cx="566928" cy="5669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79392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3867912" y="205740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ช่างถ่ายภาพ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867912" y="260604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ไปถ่ายตามวัน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เวลา สถานที่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321808" y="2331720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532120" y="1170432"/>
            <a:ext cx="152704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532120" y="1170432"/>
            <a:ext cx="1527048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16752" y="1371600"/>
            <a:ext cx="566928" cy="5669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16752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5605272" y="205740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อัพโหลด Drive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605272" y="260604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จัดรูปขึ้น Google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Drive ส่งลิงก์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059168" y="2331720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7269480" y="1170432"/>
            <a:ext cx="152704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269480" y="1170432"/>
            <a:ext cx="1527048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54112" y="1371600"/>
            <a:ext cx="566928" cy="5669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54112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7342632" y="205740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แสดงแกลเลอรี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342632" y="2606040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รูปปรากฏใน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แกลเลอรีอัตโนมัติ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20040" y="4663440"/>
            <a:ext cx="8503920" cy="329184"/>
          </a:xfrm>
          <a:prstGeom prst="roundRect">
            <a:avLst>
              <a:gd name="adj" fmla="val 13889"/>
            </a:avLst>
          </a:prstGeom>
          <a:solidFill>
            <a:srgbClr val="9B5DE5">
              <a:alpha val="12000"/>
            </a:srgbClr>
          </a:solidFill>
          <a:ln w="12700">
            <a:solidFill>
              <a:srgbClr val="9B5DE5">
                <a:alpha val="5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0040" y="4663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5DE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📷  ดูแกลเลอรีภาพกิจกรรมได้ที่เมนู "แกลเลอรี"  •  ดูวิดีโอได้ที่เมนู "วิดีโอ"  •  ค้นหาผ่าน LINE Bot ได้เลย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สิทธิ์การใช้งานตาม Role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แต่ละกลุ่มมีสิทธิ์เข้าถึงที่แตกต่างกัน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5361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1536192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5506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ครู / บุคลากร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" y="2103120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 (เว็บ + LINE)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" y="2596896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 / คิว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3090672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90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 Gallery &amp; วิดีโอ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" y="3584448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844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ผูกบัญชี 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78224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ดูประวัติของตัวเอง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57400" y="1170432"/>
            <a:ext cx="15361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57400" y="1170432"/>
            <a:ext cx="1536192" cy="84124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121615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Technician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165506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ช่างเทคนิค 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67128" y="2103120"/>
            <a:ext cx="155448" cy="15544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1031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ทุกอย่างของ User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67128" y="2596896"/>
            <a:ext cx="155448" cy="15544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 + อัพเดทงานซ่อม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67128" y="3090672"/>
            <a:ext cx="155448" cy="15544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3090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ยืม-คืน-เบิกอุปกรณ์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67128" y="3584448"/>
            <a:ext cx="155448" cy="15544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35844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บันทึกอะไหล่ที่ใช้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67128" y="4078224"/>
            <a:ext cx="155448" cy="15544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4078224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อัพโหลดรูปงานเสร็จ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794760" y="1170432"/>
            <a:ext cx="15361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94760" y="1170432"/>
            <a:ext cx="1536192" cy="84124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121615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Photographer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840480" y="165506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ช่างภาพ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04488" y="2103120"/>
            <a:ext cx="155448" cy="15544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21031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ทุกอย่างของ User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904488" y="2596896"/>
            <a:ext cx="155448" cy="15544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 + ส่งงานถ่ายภาพ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904488" y="3090672"/>
            <a:ext cx="155448" cy="15544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3090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อัพโหลดลิงก์ Drive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904488" y="3584448"/>
            <a:ext cx="155448" cy="15544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35844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ยืมอุปกรณ์ถ่ายภาพ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904488" y="4078224"/>
            <a:ext cx="155448" cy="15544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0" y="4078224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แก้ไขงานของตัวเอง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32120" y="1170432"/>
            <a:ext cx="15361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532120" y="1170432"/>
            <a:ext cx="1536192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121615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Moderator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577840" y="165506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ผู้ดูแลระบบ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641848" y="2103120"/>
            <a:ext cx="155448" cy="1554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21031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ทุกอย่างของ Technician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641848" y="2596896"/>
            <a:ext cx="155448" cy="1554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0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อนุมัติ/ปฏิเสธการจอง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641848" y="3090672"/>
            <a:ext cx="155448" cy="1554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0" y="3090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มอบหมายงานซ่อม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641848" y="3584448"/>
            <a:ext cx="155448" cy="1554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52160" y="35844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สร้าง/มอบหมายงานภาพ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641848" y="4078224"/>
            <a:ext cx="155448" cy="1554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0" y="4078224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ดูสถิติ + Export Excel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269480" y="1170432"/>
            <a:ext cx="15361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69480" y="1170432"/>
            <a:ext cx="1536192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0" y="121615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315200" y="165506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ผู้ดูแลสูงสุด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379208" y="2103120"/>
            <a:ext cx="155448" cy="1554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89520" y="21031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ทุกสิทธิ์ทั้งหมด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379208" y="2596896"/>
            <a:ext cx="155448" cy="1554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9520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จัดการผู้ใช้ + Role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379208" y="3090672"/>
            <a:ext cx="155448" cy="1554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0" y="30906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เพิ่ม/แก้ไขครุภัณฑ์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7379208" y="3584448"/>
            <a:ext cx="155448" cy="1554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89520" y="35844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Command Center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379208" y="4078224"/>
            <a:ext cx="155448" cy="1554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89520" y="4078224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ตั้งค่าระบบทั้งหมด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  •  โรงเรียนเทศบาล 6 นครเชียงราย  •  ฝ่ายเทคโนโลยีสารสนเทศ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 &amp; รายงานสถิติ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ภาพรวม Real-time  •  Export Excel  •  Donut Charts  •  Command Center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20240" cy="1389888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350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📋 งานซ่อม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แยก Zone ม.ต้น/ม.ปลาย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920240" cy="1389888"/>
          </a:xfrm>
          <a:prstGeom prst="rect">
            <a:avLst/>
          </a:prstGeom>
          <a:solidFill>
            <a:srgbClr val="1A3A5C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234440"/>
            <a:ext cx="192024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350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📅 การจอง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60320" y="19019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รอพิจารณา / อนุมัติ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1920240" cy="1389888"/>
          </a:xfrm>
          <a:prstGeom prst="rect">
            <a:avLst/>
          </a:prstGeom>
          <a:solidFill>
            <a:srgbClr val="1A3A5C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234440"/>
            <a:ext cx="1920240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3350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📦 คลังวัสดุ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19019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สต็อคสด ยืม-คืน-เบิก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20240" cy="1389888"/>
          </a:xfrm>
          <a:prstGeom prst="rect">
            <a:avLst/>
          </a:prstGeom>
          <a:solidFill>
            <a:srgbClr val="1A3A5C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234440"/>
            <a:ext cx="1920240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3350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📷 งานภาพ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19019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มอบหมาย / เสร็จสิ้น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788920"/>
            <a:ext cx="1920240" cy="2011680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2926080"/>
            <a:ext cx="822960" cy="822960"/>
          </a:xfrm>
          <a:prstGeom prst="ellipse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081528"/>
            <a:ext cx="512064" cy="51206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11480" y="3822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Export Excel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11480" y="4233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ออกรายงาน .xlsx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ครบทุกโมดูล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468880" y="2788920"/>
            <a:ext cx="1920240" cy="2011680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017520" y="2926080"/>
            <a:ext cx="822960" cy="82296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081528"/>
            <a:ext cx="512064" cy="51206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560320" y="3822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Donut Charts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2560320" y="4233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กราฟสัดส่วนสถานะ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งาน Real-time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617720" y="2788920"/>
            <a:ext cx="1920240" cy="2011680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66360" y="2926080"/>
            <a:ext cx="822960" cy="82296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3081528"/>
            <a:ext cx="512064" cy="51206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709160" y="3822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Command Center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4709160" y="4233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ภาพรวมสำหรับ Admin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จัดการจากจุดเดียว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766560" y="2788920"/>
            <a:ext cx="1920240" cy="2011680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315200" y="2926080"/>
            <a:ext cx="822960" cy="822960"/>
          </a:xfrm>
          <a:prstGeom prst="ellipse">
            <a:avLst/>
          </a:prstGeom>
          <a:solidFill>
            <a:srgbClr val="FFB347">
              <a:alpha val="85000"/>
            </a:srgbClr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3081528"/>
            <a:ext cx="512064" cy="51206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58000" y="3822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Activity Log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6858000" y="4233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ประวัติทุกกิจกรรม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กรองช่วงเวลาได้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943600" y="-914400"/>
            <a:ext cx="4114800" cy="4114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6949440" y="-457200"/>
            <a:ext cx="2743200" cy="2743200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-914400" y="3474720"/>
            <a:ext cx="2926080" cy="2926080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เริ่มต้นใช้งาน CRMS6-IT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560320" cy="29718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0241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B4D8">
                    <a:alpha val="80000"/>
                  </a:srgb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01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389888" y="1901952"/>
            <a:ext cx="694944" cy="6949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029968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เปิดเว็บหรือ LINE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32004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crms6it.vercel.app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หรือเพิ่มเพื่อน @952lozgb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017520" y="20299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A60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3291840" y="960120"/>
            <a:ext cx="2560320" cy="2971800"/>
          </a:xfrm>
          <a:prstGeom prst="rect">
            <a:avLst/>
          </a:prstGeom>
          <a:solidFill>
            <a:srgbClr val="1A3A5C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83280" y="10241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D6A0">
                    <a:alpha val="80000"/>
                  </a:srgb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02</a:t>
            </a:r>
            <a:endParaRPr lang="en-US" sz="6000" dirty="0"/>
          </a:p>
        </p:txBody>
      </p:sp>
      <p:sp>
        <p:nvSpPr>
          <p:cNvPr id="16" name="Shape 13"/>
          <p:cNvSpPr/>
          <p:nvPr/>
        </p:nvSpPr>
        <p:spPr>
          <a:xfrm>
            <a:off x="4224528" y="1901952"/>
            <a:ext cx="694944" cy="69494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2029968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29000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Login + ผูกบัญชี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429000" y="32004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Login Google @tesaban6.ac.th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ผูก LINE ด้วย OTP 1 ครั้ง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852160" y="20299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A60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7"/>
          <p:cNvSpPr/>
          <p:nvPr/>
        </p:nvSpPr>
        <p:spPr>
          <a:xfrm>
            <a:off x="6126480" y="960120"/>
            <a:ext cx="2560320" cy="2971800"/>
          </a:xfrm>
          <a:prstGeom prst="rect">
            <a:avLst/>
          </a:prstGeom>
          <a:solidFill>
            <a:srgbClr val="1A3A5C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217920" y="10241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347">
                    <a:alpha val="80000"/>
                  </a:srgb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03</a:t>
            </a:r>
            <a:endParaRPr lang="en-US" sz="6000" dirty="0"/>
          </a:p>
        </p:txBody>
      </p:sp>
      <p:sp>
        <p:nvSpPr>
          <p:cNvPr id="23" name="Shape 19"/>
          <p:cNvSpPr/>
          <p:nvPr/>
        </p:nvSpPr>
        <p:spPr>
          <a:xfrm>
            <a:off x="7059168" y="1901952"/>
            <a:ext cx="694944" cy="694944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2029968"/>
            <a:ext cx="438912" cy="4389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63640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เลือกเมนูได้เลย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263640" y="32004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 • จองห้อง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คลังวัสดุ • ถ่ายภาพ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1097280" y="409651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00B4D8">
              <a:alpha val="7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97280" y="4096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🔧 แจ้งซ่อม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2834640" y="409651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06D6A0">
              <a:alpha val="7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834640" y="4096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📅 จองห้อง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572000" y="409651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B347">
              <a:alpha val="78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572000" y="4096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📦 คลังวัสดุ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309360" y="409651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9B5DE5">
              <a:alpha val="78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309360" y="4096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📷 ถ่ายภาพ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60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💡  รองรับทุกอุปกรณ์: มือถือ · แท็บเล็ต · คอมพิวเตอร์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0C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  •  โรงเรียนเทศบาล 6 นครเชียงราย  •  ฝ่ายเทคโนโลยีสารสนเทศ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CRMS6-IT Pitch Deck</dc:title>
  <dc:subject>PptxGenJS Presentation</dc:subject>
  <dc:creator>PptxGenJS</dc:creator>
  <cp:lastModifiedBy>PptxGenJS</cp:lastModifiedBy>
  <cp:revision>1</cp:revision>
  <dcterms:created xsi:type="dcterms:W3CDTF">2026-03-19T06:50:58Z</dcterms:created>
  <dcterms:modified xsi:type="dcterms:W3CDTF">2026-03-19T06:50:58Z</dcterms:modified>
</cp:coreProperties>
</file>