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822960"/>
            <a:ext cx="73152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4980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CRMS6-IT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ระบบสารสนเทศโสตทัศนศึกษาและสื่อเทคโนโลยี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C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โรงเรียนเตรียมอุดมศึกษาพัฒนาการ 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2029968" cy="274320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957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🔧 แจ้งซ่อม 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2395728"/>
            <a:ext cx="2029968" cy="274320"/>
          </a:xfrm>
          <a:prstGeom prst="rect">
            <a:avLst>
              <a:gd name="adj" fmla="val 50000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3957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 ซ่อมอาคาร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2395728"/>
            <a:ext cx="2029968" cy="274320"/>
          </a:xfrm>
          <a:prstGeom prst="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3957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📅 จองห้อง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779776"/>
            <a:ext cx="2029968" cy="274320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7977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📦 คลังวัสดุ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2779776"/>
            <a:ext cx="2029968" cy="274320"/>
          </a:xfrm>
          <a:prstGeom prst="rect">
            <a:avLst>
              <a:gd name="adj" fmla="val 50000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77977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ถ่ายภาพ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2779776"/>
            <a:ext cx="2029968" cy="274320"/>
          </a:xfrm>
          <a:prstGeom prst="rect">
            <a:avLst>
              <a:gd name="adj" fmla="val 50000"/>
            </a:avLst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77977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🎬 คลังวิดีโอ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3273552"/>
            <a:ext cx="2468880" cy="329184"/>
          </a:xfrm>
          <a:prstGeom prst="rect">
            <a:avLst>
              <a:gd name="adj" fmla="val 50000"/>
            </a:avLst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735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🤖 LINE Bot: @952lozgb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3273552"/>
            <a:ext cx="2286000" cy="329184"/>
          </a:xfrm>
          <a:prstGeom prst="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2735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🌐 crms6it.vercel.app</a:t>
            </a:r>
            <a:endParaRPr lang="en-US" sz="10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05840"/>
            <a:ext cx="1645920" cy="1645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0" y="47960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ช่องทาง  •  8 โมดูล  •  5 สิทธิ์  •  LINE Bot AI  •  Facebook Auto-Post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ก่อนมีระบบ CRMS6-IT…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ปัญหาที่เกิดซ้ำๆ จนต้องสร้างระบบมาแก้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416052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73152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188720"/>
            <a:ext cx="457200" cy="457200"/>
          </a:xfrm>
          <a:prstGeom prst="rect">
            <a:avLst>
              <a:gd name="adj" fmla="val 16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0700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3272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แจ้งซ่อมผ่านกลุ่ม 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" y="144475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ไม่รู้ว่าใครรับงาน สถานะคืออะไร ตามงานยาก ไม่มีระบบ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987552"/>
            <a:ext cx="416052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987552"/>
            <a:ext cx="73152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19472" y="1188720"/>
            <a:ext cx="457200" cy="457200"/>
          </a:xfrm>
          <a:prstGeom prst="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0700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68112" y="1115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จองห้องซ้อนกัน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68112" y="144475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ไม่มีระบบกลาง จองปากเปล่า ห้องซ้อน เกิดความขัดแย้ง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2816352"/>
            <a:ext cx="416052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2816352"/>
            <a:ext cx="73152" cy="16459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4632" y="3017520"/>
            <a:ext cx="457200" cy="457200"/>
          </a:xfrm>
          <a:prstGeom prst="rect">
            <a:avLst>
              <a:gd name="adj" fmla="val 16000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3580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33272" y="29443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คลังวัสดุไม่มีบันทึก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33272" y="327355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ไม่รู้ว่าใครยืม ของหายไปไหน วัสดุขาดแต่ไม่รู้เลย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2816352"/>
            <a:ext cx="4160520" cy="16459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54880" y="2816352"/>
            <a:ext cx="73152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919472" y="3017520"/>
            <a:ext cx="457200" cy="457200"/>
          </a:xfrm>
          <a:prstGeom prst="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35808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68112" y="29443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ภาพกิจกรรมกระจัดกระจาย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68112" y="327355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รูปอยู่ใน Drive ส่วนตัว ไม่มีศูนย์รวม ค้นหาไม่ได้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CRMS6-IT แก้ปัญหาทั้งหมดนี้ในที่เดียว บนเว็บและ 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ช่องทางเข้าถึงระบบ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035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ใช้งานได้ทุกที่ ทุกเวลา ไม่ต้องติดตั้ง App เพิ่ม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88920" cy="3749040"/>
          </a:xfrm>
          <a:prstGeom prst="rect">
            <a:avLst>
              <a:gd name="adj" fmla="val 4918"/>
            </a:avLst>
          </a:prstGeom>
          <a:solidFill>
            <a:srgbClr val="1E355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2788920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115568"/>
            <a:ext cx="512064" cy="512064"/>
          </a:xfrm>
          <a:prstGeom prst="ellipse">
            <a:avLst/>
          </a:prstGeom>
          <a:solidFill>
            <a:srgbClr val="27405A"/>
          </a:solidFill>
          <a:ln w="12700">
            <a:solidFill>
              <a:srgbClr val="334E6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13385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เว็บไซต์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14447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crms6it.vercel.app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" y="199339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Google @tesaban6.ac.th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" y="2505456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450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 ภาพรวมระบบ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" y="301752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ทุกโมดูลครบถ้วน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" y="3529584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จัดการ Admin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18688" y="1051560"/>
            <a:ext cx="2788920" cy="3749040"/>
          </a:xfrm>
          <a:prstGeom prst="rect">
            <a:avLst>
              <a:gd name="adj" fmla="val 4918"/>
            </a:avLst>
          </a:prstGeom>
          <a:solidFill>
            <a:srgbClr val="1E3558"/>
          </a:solidFill>
          <a:ln w="19050">
            <a:solidFill>
              <a:srgbClr val="00C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18688" y="1051560"/>
            <a:ext cx="2788920" cy="804672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9856" y="1115568"/>
            <a:ext cx="512064" cy="512064"/>
          </a:xfrm>
          <a:prstGeom prst="ellipse">
            <a:avLst/>
          </a:prstGeom>
          <a:solidFill>
            <a:srgbClr val="27405A"/>
          </a:solidFill>
          <a:ln w="12700">
            <a:solidFill>
              <a:srgbClr val="334E6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133856"/>
            <a:ext cx="475488" cy="4754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95928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 AI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3995928" y="14447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@952lozgb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419856" y="1993392"/>
            <a:ext cx="146304" cy="146304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30168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สนทนาภาษาไทยธรรมชาติ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419856" y="2505456"/>
            <a:ext cx="146304" cy="146304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30168" y="2450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ส่งรูป Gemini Vision วินิจฉัย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419856" y="3017520"/>
            <a:ext cx="146304" cy="146304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30168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เช็คสถานะ ห้องว่าง ค้นหา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419856" y="3529584"/>
            <a:ext cx="146304" cy="146304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30168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ไม่ต้องดาวน์โหลด App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163056" y="1051560"/>
            <a:ext cx="2788920" cy="3749040"/>
          </a:xfrm>
          <a:prstGeom prst="rect">
            <a:avLst>
              <a:gd name="adj" fmla="val 4918"/>
            </a:avLst>
          </a:prstGeom>
          <a:solidFill>
            <a:srgbClr val="1E3558"/>
          </a:solidFill>
          <a:ln w="19050">
            <a:solidFill>
              <a:srgbClr val="9B5D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163056" y="1051560"/>
            <a:ext cx="2788920" cy="80467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64224" y="1115568"/>
            <a:ext cx="512064" cy="512064"/>
          </a:xfrm>
          <a:prstGeom prst="ellipse">
            <a:avLst/>
          </a:prstGeom>
          <a:solidFill>
            <a:srgbClr val="27405A"/>
          </a:solidFill>
          <a:ln w="12700">
            <a:solidFill>
              <a:srgbClr val="334E6A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133856"/>
            <a:ext cx="475488" cy="4754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940296" y="11155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LIFF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6940296" y="144475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Mini-App ใน LINE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364224" y="1993392"/>
            <a:ext cx="146304" cy="14630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74536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IT + อาคาร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364224" y="2505456"/>
            <a:ext cx="146304" cy="14630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74536" y="2450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จองห้องประชุม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364224" y="3017520"/>
            <a:ext cx="146304" cy="14630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74536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ดูประวัติแจ้งซ่อม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364224" y="3529584"/>
            <a:ext cx="146304" cy="14630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574536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เปิดจาก Rich Menu LINE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D00"/>
          </a:solidFill>
          <a:ln w="12700">
            <a:solidFill>
              <a:srgbClr val="003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 LINE กับระบบ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EE8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ทำครั้งเดียว ใช้งานได้ตลอด — 2 วิธีเลือกได้ตามสะดวก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33088" cy="3858768"/>
          </a:xfrm>
          <a:prstGeom prst="rect">
            <a:avLst>
              <a:gd name="adj" fmla="val 3555"/>
            </a:avLst>
          </a:prstGeom>
          <a:solidFill>
            <a:srgbClr val="004D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FF8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วิธีที่ 1 — ผ่าน LIFF (Google Login)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1490472"/>
            <a:ext cx="292608" cy="292608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8132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43560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 Rich Menu ใน LINE → กด LIFF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002536"/>
            <a:ext cx="292608" cy="292608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9339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194767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ระบบตรวจสอบ → ยังไม่ผูกบัญชี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2514600"/>
            <a:ext cx="292608" cy="292608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50545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245973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กดปุ่ม เปิดใน Chrome/Safari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3026664"/>
            <a:ext cx="292608" cy="292608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1752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29718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Google @tesaban6.ac.th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" y="3538728"/>
            <a:ext cx="292608" cy="292608"/>
          </a:xfrm>
          <a:prstGeom prst="ellipse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2958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348386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ระบบผูก LINE ID + บัญชีโรงเรียน 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133088" cy="3858768"/>
          </a:xfrm>
          <a:prstGeom prst="rect">
            <a:avLst>
              <a:gd name="adj" fmla="val 3555"/>
            </a:avLst>
          </a:prstGeom>
          <a:solidFill>
            <a:srgbClr val="004D00"/>
          </a:solidFill>
          <a:ln w="12700">
            <a:solidFill>
              <a:srgbClr val="66DD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0241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FF8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วิธีที่ 2 — ผ่าน LINE Bot (OTP Email)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10328" y="1490472"/>
            <a:ext cx="292608" cy="292608"/>
          </a:xfrm>
          <a:prstGeom prst="ellipse">
            <a:avLst/>
          </a:prstGeom>
          <a:solidFill>
            <a:srgbClr val="66DD66"/>
          </a:solidFill>
          <a:ln w="12700">
            <a:solidFill>
              <a:srgbClr val="66DD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148132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143560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 "ผูกบัญชี" ใน LINE Bot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10328" y="2002536"/>
            <a:ext cx="292608" cy="292608"/>
          </a:xfrm>
          <a:prstGeom prst="ellipse">
            <a:avLst/>
          </a:prstGeom>
          <a:solidFill>
            <a:srgbClr val="66DD66"/>
          </a:solidFill>
          <a:ln w="12700">
            <a:solidFill>
              <a:srgbClr val="66DD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99339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194767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Bot ถาม email @tesaban6.ac.th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10328" y="2514600"/>
            <a:ext cx="292608" cy="292608"/>
          </a:xfrm>
          <a:prstGeom prst="ellipse">
            <a:avLst/>
          </a:prstGeom>
          <a:solidFill>
            <a:srgbClr val="66DD66"/>
          </a:solidFill>
          <a:ln w="12700">
            <a:solidFill>
              <a:srgbClr val="66DD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50545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245973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 OTP 6 หลักทาง email (5 นาที)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10328" y="3026664"/>
            <a:ext cx="292608" cy="292608"/>
          </a:xfrm>
          <a:prstGeom prst="ellipse">
            <a:avLst/>
          </a:prstGeom>
          <a:solidFill>
            <a:srgbClr val="66DD66"/>
          </a:solidFill>
          <a:ln w="12700">
            <a:solidFill>
              <a:srgbClr val="66DD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017520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5232" y="29718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 OTP ที่ Bot ถาม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0328" y="3538728"/>
            <a:ext cx="292608" cy="292608"/>
          </a:xfrm>
          <a:prstGeom prst="ellipse">
            <a:avLst/>
          </a:prstGeom>
          <a:solidFill>
            <a:srgbClr val="66DD66"/>
          </a:solidFill>
          <a:ln w="12700">
            <a:solidFill>
              <a:srgbClr val="66DD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52958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348386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ผูกสำเร็จ! (พยายามได้สูงสุด 3 ครั้ง)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791456"/>
            <a:ext cx="9144000" cy="274320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79145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FF8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🔒 Secure  •  ✅ เชื่อมแล้วใช้ได้ทุก LIFF ทันที  •  📱 ไม่ต้อง Login ซ้ำ  •  OTP หมดอายุใน 5 นาที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ระบบ: โสตทัศนศึกษา IT  •  อาคารสถานที่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6304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87552"/>
            <a:ext cx="4160520" cy="3822192"/>
          </a:xfrm>
          <a:prstGeom prst="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005A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987552"/>
            <a:ext cx="416052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🔧 โสตทัศนศึกษา (IT)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0624" y="157276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15087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94944" y="17647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ส่งรูปอาการ → Gemini Vision AI วินิจฉัย → Bot สร้าง Ticket อัตโนมัติ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234086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2276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LIFF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4944" y="25328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แท็บ แจ้งซ่อม IT → กรอกห้อง/อาการ/รูป → บันทึกทันที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0624" y="310896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3044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 /repair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4944" y="330098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เลือกแท็บ โสตทัศนศึกษา → กรอกฟอร์ม → ส่ง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0624" y="387705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3813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4944" y="40690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 IT รับ LINE Push Notification ทันทีที่มีงานใหม่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09160" y="987552"/>
            <a:ext cx="4160520" cy="3822192"/>
          </a:xfrm>
          <a:prstGeom prst="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8A6A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987552"/>
            <a:ext cx="4160520" cy="42062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 อาคารสถานที่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46320" y="14630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หมวดหมู่: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42432" y="1435608"/>
            <a:ext cx="585216" cy="256032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42432" y="1435608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แอร์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364224" y="1435608"/>
            <a:ext cx="585216" cy="256032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64224" y="1435608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ไฟฟ้า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986016" y="1435608"/>
            <a:ext cx="585216" cy="256032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86016" y="1435608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ประปา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607808" y="1435608"/>
            <a:ext cx="585216" cy="256032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07808" y="1435608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29600" y="1435608"/>
            <a:ext cx="585216" cy="256032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29600" y="1435608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เบ็ดเตล็ด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846320" y="1892808"/>
            <a:ext cx="201168" cy="20116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2064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120640" y="2084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บอกอาการ → Bot ถามหมวด/ห้อง/รูป → Ticket อาคาร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846320" y="2596896"/>
            <a:ext cx="201168" cy="20116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20640" y="2532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LIFF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12064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แท็บ ซ่อมอาคาร → เลือกหมวด → กรอกรายละเอียด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46320" y="3300984"/>
            <a:ext cx="201168" cy="20116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0" y="32369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 /repair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120640" y="34930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แท็บ อาคารสถานที่ → กรอกฟอร์ม → ส่ง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846320" y="4005072"/>
            <a:ext cx="201168" cy="20116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20640" y="39410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120640" y="41970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ช่างอาคาร (facility_technician) รับ notification แยกจาก IT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 / คิวช่างภาพ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จองห้องประชุม 7 ห้อง (ม.ต้น 3 + ม.ปลาย 4)  +  จองคิวช่างภาพ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6304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875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 ห้องที่รองรับ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3533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ม.ต้น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316736"/>
            <a:ext cx="1280160" cy="256032"/>
          </a:xfrm>
          <a:prstGeom prst="rect">
            <a:avLst>
              <a:gd name="adj" fmla="val 50000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316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พญาสัตบรรณ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06040" y="1316736"/>
            <a:ext cx="1280160" cy="256032"/>
          </a:xfrm>
          <a:prstGeom prst="rect">
            <a:avLst>
              <a:gd name="adj" fmla="val 50000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1316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โรงยิม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77640" y="1316736"/>
            <a:ext cx="1280160" cy="256032"/>
          </a:xfrm>
          <a:prstGeom prst="rect">
            <a:avLst>
              <a:gd name="adj" fmla="val 50000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1316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จามจุรี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166420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ม.ปลาย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234440" y="1627632"/>
            <a:ext cx="1115568" cy="256032"/>
          </a:xfrm>
          <a:prstGeom prst="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4440" y="162763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ลีลาวดี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423160" y="1627632"/>
            <a:ext cx="1115568" cy="256032"/>
          </a:xfrm>
          <a:prstGeom prst="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23160" y="162763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หอประชุม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11880" y="1627632"/>
            <a:ext cx="1115568" cy="256032"/>
          </a:xfrm>
          <a:prstGeom prst="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11880" y="162763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ศาสตร์พระราชา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00600" y="1627632"/>
            <a:ext cx="1115568" cy="256032"/>
          </a:xfrm>
          <a:prstGeom prst="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162763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ศูนย์ภาษา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20299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ขั้นตอนการจองห้อง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65760" y="2395728"/>
            <a:ext cx="2029968" cy="128016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161288" y="2313432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61288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38912" y="2798064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/ เปิด LIFF ใน LINE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542032" y="2395728"/>
            <a:ext cx="2029968" cy="128016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337560" y="2313432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37560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2615184" y="2798064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 เขต + ห้อง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18304" y="2395728"/>
            <a:ext cx="2029968" cy="128016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513832" y="2313432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13832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4791456" y="2798064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ระบุวัน-เวลา + ผู้จอง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894576" y="2395728"/>
            <a:ext cx="2029968" cy="1280160"/>
          </a:xfrm>
          <a:prstGeom prst="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690104" y="2313432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90104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967728" y="2798064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 Moderator อนุมัติ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4320" y="3767328"/>
            <a:ext cx="8595360" cy="1051560"/>
          </a:xfrm>
          <a:prstGeom prst="rect">
            <a:avLst>
              <a:gd name="adj" fmla="val 10435"/>
            </a:avLst>
          </a:prstGeom>
          <a:solidFill>
            <a:srgbClr val="F2EEFF"/>
          </a:solidFill>
          <a:ln w="12700">
            <a:solidFill>
              <a:srgbClr val="5A3A8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จองคิวช่างภาพ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 ต้องการช่างภาพ ในฟอร์มจอง → ระบบแจ้ง Moderator → Moderator สร้าง Photography Job มอบหมายให้ช่างโดยอัตโนมัติ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200"/>
          </a:solidFill>
          <a:ln w="12700">
            <a:solidFill>
              <a:srgbClr val="00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 AI — 10 สิ่งที่ทำได้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EE8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พิมพ์ภาษาไทยธรรมชาติ หรือส่งรูป — Gemini AI จะเข้าใจและดำเนินการให้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IT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1307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ส่งรูป → Gemini Vision วินิจฉัย → สร้าง Ticket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1746504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746504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0195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1248" y="18196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แจ้งซ่อมอาคาร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41248" y="20939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บอกหมวด แอร์/ไฟ/น้ำ/โครงสร้าง → บันทึก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74320" y="2532888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532888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8833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" y="2606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เช็คสถานะซ่อม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1248" y="2880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 Ticket ที่กำลังดำเนินการ + Flex Message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74320" y="3319272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4320" y="3319272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7472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1248" y="3392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เช็คห้องว่าง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41248" y="36667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ถามว่าห้องไหน วันไหน ว่างมั้ย → ตอบทันที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274320" y="4105656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4320" y="4105656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61104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41248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ดูตารางห้อง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41248" y="4453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แสดงตารางจองของห้องแบบ Flex Carousel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736592" y="960120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736592" y="960120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115568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0352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ค้นหาภาพกิจกรรม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303520" y="1307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Semantic AI Search แกลเลอรี + Link Drive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736592" y="1746504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736592" y="1746504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1901952"/>
            <a:ext cx="347472" cy="34747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303520" y="18196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ค้นหาวิดีโอ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5303520" y="20939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ค้นคลังวิดีโอ YouTube/TikTok/Drive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4736592" y="2532888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736592" y="2532888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2688336"/>
            <a:ext cx="347472" cy="34747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303520" y="2606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ถามปัญหา IT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5303520" y="2880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ค้น Knowledge Base → ตอบปัญหาคอม/เน็ต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4736592" y="3319272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4736592" y="3319272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752" y="3474720"/>
            <a:ext cx="347472" cy="347472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303520" y="3392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สรุปงานประจำวัน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5303520" y="36667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Daily Summary สำหรับ Admin/Mod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4736592" y="4105656"/>
            <a:ext cx="4206240" cy="694944"/>
          </a:xfrm>
          <a:prstGeom prst="rect">
            <a:avLst>
              <a:gd name="adj" fmla="val 13158"/>
            </a:avLst>
          </a:prstGeom>
          <a:solidFill>
            <a:srgbClr val="172B48"/>
          </a:solidFill>
          <a:ln w="9525">
            <a:solidFill>
              <a:srgbClr val="006600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4736592" y="4105656"/>
            <a:ext cx="64008" cy="694944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752" y="4261104"/>
            <a:ext cx="347472" cy="347472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303520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 (OTP)</a:t>
            </a:r>
            <a:endParaRPr lang="en-US" sz="1100" dirty="0"/>
          </a:p>
        </p:txBody>
      </p:sp>
      <p:sp>
        <p:nvSpPr>
          <p:cNvPr id="56" name="Text 44"/>
          <p:cNvSpPr/>
          <p:nvPr/>
        </p:nvSpPr>
        <p:spPr>
          <a:xfrm>
            <a:off x="5303520" y="4453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A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 OTP → รับทาง email → กรอก → เสร็จ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คลังวัสดุ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คลัง: IT (โสตทัศนศึกษา)  •  อาคารสถานที่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6304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87552"/>
            <a:ext cx="4160520" cy="3822192"/>
          </a:xfrm>
          <a:prstGeom prst="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997A3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987552"/>
            <a:ext cx="4160520" cy="40233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📦 คลัง IT (โสตทัศนศึกษา)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" y="1563624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" y="14996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ยืมอุปกรณ์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6656" y="1737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 QR → กรอกผู้ยืม/ห้อง/เบอร์ → เซ็นชื่อดิจิทัล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2212848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21488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คืนอุปกรณ์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6656" y="23865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แสกน QR → บันทึกวันคืน → อัปเดตสถานะ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0624" y="2862072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27980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เบิกวัสดุสิ้นเปลือง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6656" y="30358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เบิกตามตำแหน่ง/แผนก → ตัดสต็อกอัตโนมัติ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0624" y="3511296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344728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QR Code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76656" y="36850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แต่ละชิ้นมี QR แสกนดูข้อมูล-สถานะได้ทันที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0624" y="4160520"/>
            <a:ext cx="182880" cy="1828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" y="40965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Activity Log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76656" y="433425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บันทึกทุกการเคลื่อนไหว ดาวน์โหลด Excel ได้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987552"/>
            <a:ext cx="4160520" cy="3822192"/>
          </a:xfrm>
          <a:prstGeom prst="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8A4A1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987552"/>
            <a:ext cx="4160520" cy="40233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 คลังวัสดุอาคาร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46320" y="14447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หมวด: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577840" y="1417320"/>
            <a:ext cx="585216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7840" y="141732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ไฟฟ้า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08776" y="1417320"/>
            <a:ext cx="585216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08776" y="141732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ประปา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839712" y="1417320"/>
            <a:ext cx="585216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39712" y="141732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แอร์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470648" y="1417320"/>
            <a:ext cx="585216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70648" y="141732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101584" y="1417320"/>
            <a:ext cx="585216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01584" y="141732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เบ็ดเตล็ด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46320" y="1892808"/>
            <a:ext cx="182880" cy="1828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02352" y="1828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จัดการสต็อก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102352" y="20665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เพิ่ม/แก้ไขวัสดุ กำหนดจุดสั่งซื้อ (Reorder Level)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46320" y="2606040"/>
            <a:ext cx="182880" cy="1828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02352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ตัดสต็อก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102352" y="27797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ช่างใช้วัสดุซ่อม → ระบบตัดจำนวนอัตโนมัติ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846320" y="3319272"/>
            <a:ext cx="182880" cy="1828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02352" y="3255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แจ้งเตือนต่ำ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102352" y="3493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วัสดุ &lt; Reorder Level → แจ้ง Admin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846320" y="4032504"/>
            <a:ext cx="182880" cy="1828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02352" y="3968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Location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102352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บันทึกตำแหน่งจัดเก็บในห้องช่าง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งานถ่ายภาพ &amp; Facebook Auto-Post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ครบวงจร: รับงาน → ถ่าย → อัปโหลด Drive → โพสต์ Facebook อัตโนมัติ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46304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987552"/>
            <a:ext cx="1627632" cy="2423160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987552"/>
            <a:ext cx="1627632" cy="5486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0392" y="896112"/>
            <a:ext cx="475488" cy="475488"/>
          </a:xfrm>
          <a:prstGeom prst="ellipse">
            <a:avLst/>
          </a:prstGeom>
          <a:solidFill>
            <a:srgbClr val="9B5D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7472" y="14447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รับงาน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472" y="1773936"/>
            <a:ext cx="1481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Moderator สร้าง Job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มอบช่างภาพ → LINE แจ้ง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011680" y="987552"/>
            <a:ext cx="1627632" cy="2423160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11680" y="987552"/>
            <a:ext cx="1627632" cy="54864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87752" y="896112"/>
            <a:ext cx="475488" cy="475488"/>
          </a:xfrm>
          <a:prstGeom prst="ellipse">
            <a:avLst/>
          </a:prstGeom>
          <a:solidFill>
            <a:srgbClr val="7B3F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87752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084832" y="14447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ถ่ายภาพ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84832" y="1773936"/>
            <a:ext cx="1481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 Job ใน My 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ออกไปดำเนินการ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49040" y="987552"/>
            <a:ext cx="1627632" cy="2423160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749040" y="987552"/>
            <a:ext cx="1627632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25112" y="896112"/>
            <a:ext cx="475488" cy="475488"/>
          </a:xfrm>
          <a:prstGeom prst="ellipse">
            <a:avLst/>
          </a:prstGeom>
          <a:solidFill>
            <a:srgbClr val="06D6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25112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22192" y="14447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 Google Drive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822192" y="1773936"/>
            <a:ext cx="1481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ระบบสร้างโฟลเดอร์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อัตโนมัติ → อัปโหลด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0" y="987552"/>
            <a:ext cx="1627632" cy="2423160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86400" y="987552"/>
            <a:ext cx="1627632" cy="54864"/>
          </a:xfrm>
          <a:prstGeom prst="rect">
            <a:avLst/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62472" y="896112"/>
            <a:ext cx="475488" cy="475488"/>
          </a:xfrm>
          <a:prstGeom prst="ellipse">
            <a:avLst/>
          </a:prstGeom>
          <a:solidFill>
            <a:srgbClr val="00A0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62472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59552" y="14447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 Gallery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559552" y="1773936"/>
            <a:ext cx="1481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แสดงใน Gallery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 Semantic AI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223760" y="987552"/>
            <a:ext cx="1627632" cy="2423160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223760" y="987552"/>
            <a:ext cx="1627632" cy="54864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99832" y="896112"/>
            <a:ext cx="475488" cy="475488"/>
          </a:xfrm>
          <a:prstGeom prst="ellipse">
            <a:avLst/>
          </a:prstGeom>
          <a:solidFill>
            <a:srgbClr val="1877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99832" y="896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296912" y="144475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โพสต์ Facebook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296912" y="1773936"/>
            <a:ext cx="1481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Gemini เขียน Caption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→ โพสต์อัตโนมัติ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3547872"/>
            <a:ext cx="8595360" cy="1280160"/>
          </a:xfrm>
          <a:prstGeom prst="rect">
            <a:avLst>
              <a:gd name="adj" fmla="val 8571"/>
            </a:avLst>
          </a:prstGeom>
          <a:solidFill>
            <a:srgbClr val="EBF0FF"/>
          </a:solidFill>
          <a:ln w="12700">
            <a:solidFill>
              <a:srgbClr val="1055C0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94176"/>
            <a:ext cx="475488" cy="47548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097280" y="36393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77F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Facebook Auto-Post (Powered by Gemini AI)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1097280" y="402336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🤖 Gemini เขียน Caption อัตโนมัติจากชื่องาน สถานที่ และวันที่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1097280" y="427939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📸 อัปโหลดรูปหลายรูปขึ้น Facebook Page พร้อมกัน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1097280" y="453542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💾 บันทึก Post ID + Permalink ใน Firestore เพื่อติดตาม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ฟีเจอร์เสริม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Team Status (Real-time)  •  Knowledge Base (AI Q&amp;A)  •  คลังวิดีโอ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77824"/>
            <a:ext cx="4160520" cy="393192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006A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77824"/>
            <a:ext cx="4160520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👥 Team 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82496"/>
            <a:ext cx="164592" cy="164592"/>
          </a:xfrm>
          <a:prstGeom prst="ellipse">
            <a:avLst/>
          </a:prstGeom>
          <a:solidFill>
            <a:srgbClr val="00C054"/>
          </a:solidFill>
          <a:ln w="12700">
            <a:solidFill>
              <a:srgbClr val="00C0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645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ว่าง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9933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ติดงาน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340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พัก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688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วันหยุด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035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474720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▸ Real-time: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47088" y="3566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อัปเดตสถานะทันทีทุกคนในทีม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▸ Admin Override: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47088" y="3950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กำหนดสถานะให้สมาชิกได้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3342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▸ Daily Report: 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47088" y="4334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ช่างภาพสรุปงานประจำวัน + Link Drive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877824"/>
            <a:ext cx="4160520" cy="393192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0474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77824"/>
            <a:ext cx="4160520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📚 Knowledge Base + Video Gallery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147218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1408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คลังความรู้ IT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02352" y="1645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Admin/Mod เพิ่ม Q&amp;A ปัญหา IT พร้อม Keyword Tags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11226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2048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 ค้น KB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02352" y="2286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ผู้ใช้ถาม → AI ค้น Knowledge Base → ตอบอัตโนมัติ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75234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คลังวิดีโอ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02352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รองรับ YouTube, TikTok, Google Drive, Facebook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39242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328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หลายลิงก์/วิดีโอ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02352" y="3566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แต่ละวิดีโอมีได้สูงสุด 3 ลิงก์ต่างแพลตฟอร์ม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03250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968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02352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Filter ตามหมวดหมู่ + Search ชื่อ/คำอธิบาย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F"/>
          </a:solidFill>
          <a:ln w="12700">
            <a:solidFill>
              <a:srgbClr val="FAF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สิทธิ์ผู้ใช้ตาม Role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 ระดับสิทธิ์  +  Flag isPhotographer (ตั้งได้กับ Role ใดก็ได้)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627632" cy="3913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627632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188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user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02336" y="154533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46304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แจ้งซ่อม IT + อาคาร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07568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9339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จองห้องประชุม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26060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237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เช็คสถานะ LINE Bot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" y="313639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5409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ดูแกลเลอรี/วิดีโอ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914400"/>
            <a:ext cx="1627632" cy="3913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0" y="914400"/>
            <a:ext cx="1627632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93268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1188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technician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39696" y="154533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04288" y="146304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งานซ่อม IT (My Work)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39696" y="20756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199339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อัปเดตสถานะ Ticket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39696" y="260604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4288" y="25237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ยืม/เบิกวัสดุ 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39696" y="313639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04288" y="305409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Daily Report + Team Status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49040" y="914400"/>
            <a:ext cx="1627632" cy="3913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49040" y="914400"/>
            <a:ext cx="1627632" cy="43891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93268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49040" y="1188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facility_tech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77056" y="1545336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41648" y="146304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งานซ่อมอาคาร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77056" y="2075688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199339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อัปเดตสถานะ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77056" y="2606040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41648" y="25237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เบิกวัสดุอาคาร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77056" y="3136392"/>
            <a:ext cx="109728" cy="10972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305409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Team Status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0" y="914400"/>
            <a:ext cx="1627632" cy="3913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914400"/>
            <a:ext cx="1627632" cy="43891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93268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👑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0" y="1188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moderator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14416" y="1545336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79008" y="146304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อนุมัติการจองห้อง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14416" y="2075688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199339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สร้าง Photography Job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614416" y="2606040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79008" y="25237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จัดการ Knowledge Base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14416" y="3136392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79008" y="305409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 Dashboard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23760" y="914400"/>
            <a:ext cx="1627632" cy="3913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23760" y="914400"/>
            <a:ext cx="1627632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93268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⚙️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23760" y="1188720"/>
            <a:ext cx="1627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51776" y="1545336"/>
            <a:ext cx="109728" cy="109728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16368" y="146304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ทุกสิทธิ์ข้างต้น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351776" y="2075688"/>
            <a:ext cx="109728" cy="109728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16368" y="199339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จัดการผู้ใช้+Roles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51776" y="2606040"/>
            <a:ext cx="109728" cy="109728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16368" y="25237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Command Center KPI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51776" y="3136392"/>
            <a:ext cx="109728" cy="109728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16368" y="305409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Admin Override Status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4320" y="4626864"/>
            <a:ext cx="8595360" cy="347472"/>
          </a:xfrm>
          <a:prstGeom prst="rect">
            <a:avLst>
              <a:gd name="adj" fmla="val 26316"/>
            </a:avLst>
          </a:prstGeom>
          <a:solidFill>
            <a:srgbClr val="E8DDFF"/>
          </a:solidFill>
          <a:ln w="12700">
            <a:solidFill>
              <a:srgbClr val="6A4A9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62686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DE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Flag isPhotographer — ตั้งได้กับ Role ใดก็ได้ → เพิ่มสิทธิ์จัดการ Photography Jobs, คลังวิดีโอ และ Facebook Post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 &amp; Command Center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ติดตามทุกโมดูล Real-time — KPI รายบุคคล — Export Excel/PDF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969264"/>
            <a:ext cx="2029968" cy="1444752"/>
          </a:xfrm>
          <a:prstGeom prst="rect">
            <a:avLst>
              <a:gd name="adj" fmla="val 7595"/>
            </a:avLst>
          </a:prstGeom>
          <a:solidFill>
            <a:srgbClr val="172B4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9264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" y="905256"/>
            <a:ext cx="457200" cy="457200"/>
          </a:xfrm>
          <a:prstGeom prst="ellipse">
            <a:avLst/>
          </a:prstGeom>
          <a:solidFill>
            <a:srgbClr val="00B4D8"/>
          </a:solidFill>
          <a:ln w="25400">
            <a:solidFill>
              <a:srgbClr val="0D1F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914400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" y="1444752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Repair Rings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7472" y="1728216"/>
            <a:ext cx="18836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สถานะซ่อม IT+อาคาร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ดูสัดส่วน % ทันที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50592" y="969264"/>
            <a:ext cx="2029968" cy="1444752"/>
          </a:xfrm>
          <a:prstGeom prst="rect">
            <a:avLst>
              <a:gd name="adj" fmla="val 7595"/>
            </a:avLst>
          </a:prstGeom>
          <a:solidFill>
            <a:srgbClr val="172B4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50592" y="969264"/>
            <a:ext cx="2029968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36976" y="905256"/>
            <a:ext cx="457200" cy="457200"/>
          </a:xfrm>
          <a:prstGeom prst="ellipse">
            <a:avLst/>
          </a:prstGeom>
          <a:solidFill>
            <a:srgbClr val="06D6A0"/>
          </a:solidFill>
          <a:ln w="25400">
            <a:solidFill>
              <a:srgbClr val="0D1F3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91440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23744" y="1444752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Booking Calendar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23744" y="1728216"/>
            <a:ext cx="18836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ปฏิทินการจองห้อง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Month/Week View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26864" y="969264"/>
            <a:ext cx="2029968" cy="1444752"/>
          </a:xfrm>
          <a:prstGeom prst="rect">
            <a:avLst>
              <a:gd name="adj" fmla="val 7595"/>
            </a:avLst>
          </a:prstGeom>
          <a:solidFill>
            <a:srgbClr val="172B48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26864" y="969264"/>
            <a:ext cx="2029968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13248" y="905256"/>
            <a:ext cx="457200" cy="457200"/>
          </a:xfrm>
          <a:prstGeom prst="ellipse">
            <a:avLst/>
          </a:prstGeom>
          <a:solidFill>
            <a:srgbClr val="FFB347"/>
          </a:solidFill>
          <a:ln w="25400">
            <a:solidFill>
              <a:srgbClr val="0D1F3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91440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00016" y="1444752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Activity Feed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700016" y="1728216"/>
            <a:ext cx="18836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 7 วัน ซ่อม/ยืม/จอง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803136" y="969264"/>
            <a:ext cx="2029968" cy="1444752"/>
          </a:xfrm>
          <a:prstGeom prst="rect">
            <a:avLst>
              <a:gd name="adj" fmla="val 7595"/>
            </a:avLst>
          </a:prstGeom>
          <a:solidFill>
            <a:srgbClr val="172B48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03136" y="969264"/>
            <a:ext cx="2029968" cy="54864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89520" y="905256"/>
            <a:ext cx="457200" cy="457200"/>
          </a:xfrm>
          <a:prstGeom prst="ellipse">
            <a:avLst/>
          </a:prstGeom>
          <a:solidFill>
            <a:srgbClr val="9B5DE5"/>
          </a:solidFill>
          <a:ln w="25400">
            <a:solidFill>
              <a:srgbClr val="0D1F3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914400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76288" y="1444752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Staff Status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876288" y="1728216"/>
            <a:ext cx="18836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สถานะทีม Real-time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 Avatar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74320" y="2542032"/>
            <a:ext cx="8595360" cy="2267712"/>
          </a:xfrm>
          <a:prstGeom prst="rect">
            <a:avLst>
              <a:gd name="adj" fmla="val 6048"/>
            </a:avLst>
          </a:prstGeom>
          <a:solidFill>
            <a:srgbClr val="14264A"/>
          </a:solidFill>
          <a:ln w="12700">
            <a:solidFill>
              <a:srgbClr val="2A3D5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" y="25968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⚙️ Command Center (Admin Only)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074920" y="2615184"/>
            <a:ext cx="822960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074920" y="2615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ซ่อมโสต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989320" y="2615184"/>
            <a:ext cx="822960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89320" y="2615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ซ่อมอาคาร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903720" y="2615184"/>
            <a:ext cx="822960" cy="256032"/>
          </a:xfrm>
          <a:prstGeom prst="rect">
            <a:avLst>
              <a:gd name="adj" fmla="val 50000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903720" y="2615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ถ่ายภาพ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7818120" y="2615184"/>
            <a:ext cx="82296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818120" y="26151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ยืมคืน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50292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📊 KPI รายบุคคล — ซ่อมกี่ชิ้น ถ่ายกี่งาน ยืมกี่ครั้ง ภายใน Date Range ที่เลือก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502920" y="34381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📅 Date Range — Today / 7 วัน / 30 วัน / Custom (กำหนดเอง)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02920" y="3858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📁 Export — Excel (XLSX) ทุกโมดูล  •  PDF Report  •  Print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502920" y="4279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🔔 Cron Job — แจ้งเตือนงานซ่อมค้างนาน + งานถ่ายภาพเกินกำหนด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C300"/>
          </a:solidFill>
          <a:ln w="12700">
            <a:solidFill>
              <a:srgbClr val="00C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เริ่มต้นใช้งาน CRMS6-IT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852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EE8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ขั้นตอน ไม่กี่นาที พร้อมใช้งานได้เลย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2697480" cy="2651760"/>
          </a:xfrm>
          <a:prstGeom prst="rect">
            <a:avLst>
              <a:gd name="adj" fmla="val 5172"/>
            </a:avLst>
          </a:prstGeom>
          <a:solidFill>
            <a:srgbClr val="172B4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241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เว็บไซต์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crms6it.vercel.app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Login Google @tesaban6.ac.th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ใช้งานได้ทันที ไม่ต้องติดตั้ง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987552"/>
            <a:ext cx="2697480" cy="2651760"/>
          </a:xfrm>
          <a:prstGeom prst="rect">
            <a:avLst>
              <a:gd name="adj" fmla="val 5172"/>
            </a:avLst>
          </a:prstGeom>
          <a:solidFill>
            <a:srgbClr val="172B48"/>
          </a:solidFill>
          <a:ln w="19050">
            <a:solidFill>
              <a:srgbClr val="00C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0241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LINE Bot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30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Add Friend: @952lozgb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2249424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เพิ่มเพื่อนใน 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พูดภาษาไทยได้เลย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987552"/>
            <a:ext cx="2697480" cy="2651760"/>
          </a:xfrm>
          <a:prstGeom prst="rect">
            <a:avLst>
              <a:gd name="adj" fmla="val 5172"/>
            </a:avLst>
          </a:prstGeom>
          <a:solidFill>
            <a:srgbClr val="172B48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102412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72200" y="162763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ผูกบัญชี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195681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ทำครั้งเดียว ใช้ได้ตลอด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72200" y="2249424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 LIFF หรือพิมพ์ ผูกบัญชี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ใน LINE Bot → เสร็จใน 2 นาที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โมดูลทั้งหมด: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🔧 ซ่อม 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99616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🏢 ซ่อมอาคาร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87752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📅 จองห้อง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75888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📦 คลังวัสดุ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64024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📷 ถ่ายภาพ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🎬 วิดีโอ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0296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00A0E9"/>
          </a:solidFill>
          <a:ln w="12700">
            <a:solidFill>
              <a:srgbClr val="00A0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0296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📚 Knowledge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28432" y="4059936"/>
            <a:ext cx="1005840" cy="256032"/>
          </a:xfrm>
          <a:prstGeom prst="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4059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👥 Team Status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🤖 LINE Bot: @952lozgb  •  🌐 crms6it.vercel.app  •  ✉️ @tesaban6.ac.th accounts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2026-03-19T07:30:09Z</dcterms:created>
  <dcterms:modified xsi:type="dcterms:W3CDTF">2026-03-19T07:30:09Z</dcterms:modified>
</cp:coreProperties>
</file>